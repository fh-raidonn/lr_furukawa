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62" r:id="rId6"/>
    <p:sldId id="263" r:id="rId7"/>
    <p:sldId id="259" r:id="rId8"/>
    <p:sldId id="266" r:id="rId9"/>
    <p:sldId id="260" r:id="rId10"/>
    <p:sldId id="267" r:id="rId11"/>
    <p:sldId id="268" r:id="rId12"/>
    <p:sldId id="269" r:id="rId13"/>
    <p:sldId id="270" r:id="rId14"/>
    <p:sldId id="271" r:id="rId15"/>
    <p:sldId id="272" r:id="rId16"/>
    <p:sldId id="264" r:id="rId17"/>
    <p:sldId id="265" r:id="rId1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A7ECCE-9C00-1F25-6A01-02330BB8BC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8EB2F19-A9AD-3C52-BD44-13D3BC7FB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42D262-CF90-88A0-3BBA-E282DE148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194D-4213-46CA-BFA6-A9B547B4E71C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2EADB4-2124-7596-708F-44FCF7815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38C5D7-3107-8ACE-DEBD-A5B50494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757A1-4092-45BF-BD49-187127A31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1096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A930B5-890E-02E1-F80F-91EE78C9D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A802B8-B086-429D-E6DF-976A64B91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300190-6424-420F-A453-DF6E0D55A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194D-4213-46CA-BFA6-A9B547B4E71C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6B5E3D-E6C5-CBC5-8E91-6F1DBB8F2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24AA82-2276-D187-5A5F-3D5E69532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757A1-4092-45BF-BD49-187127A31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6920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9CCE35-AA4F-B248-08C8-09B7AEB05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652928F-6BF7-38BE-25B1-00AE69DBE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F6EF82-399C-BF18-A37F-369070B6D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194D-4213-46CA-BFA6-A9B547B4E71C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6E8477-8325-33ED-1E07-49EF80947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8A784C-F7E8-B330-6CB5-A409FA4AA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757A1-4092-45BF-BD49-187127A31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6127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07DED0-AAE3-9AD1-09C9-DAB7A8592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4C558CA-80CE-7908-AC86-85DBDB67D8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E9557CA-27FD-D522-B34A-C21B36AE8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BD297DB-71F4-E1B1-5BBD-B4D7F04CB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194D-4213-46CA-BFA6-A9B547B4E71C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E086359-26A5-ADDF-59DA-A02F6FCC9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C1460FA-A8BE-D325-6798-4E60CAAD9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757A1-4092-45BF-BD49-187127A31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2134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E64C23-95C5-67B7-C269-1C04ADEE1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CB701AD-723A-B7E7-3423-56BD4A388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654744F-EE1D-14AF-9625-C18B1D9513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F679A98-C3F6-84BA-1216-C0E2268B5E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48D92AD-DF1B-813A-ED43-FC446923FF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FF48369-3534-E100-7A18-C1926C069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194D-4213-46CA-BFA6-A9B547B4E71C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134D583-233A-78C8-AEE3-EE2C8F48A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5A92AC7-71EF-E9CB-C307-669837B0C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757A1-4092-45BF-BD49-187127A31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135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038317-5BFE-FC52-70AE-67430BA02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0B7F663-5513-8451-2E34-14317A6DB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194D-4213-46CA-BFA6-A9B547B4E71C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6E6365D-92AB-AA9F-B6EC-CDFB86252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B29A657-374E-448E-DB98-A2395CF01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757A1-4092-45BF-BD49-187127A31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8659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8E3D5CA-E1F6-A94B-D961-4E37823A6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194D-4213-46CA-BFA6-A9B547B4E71C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D508269-4A48-015D-19C7-24E2983C3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3C924C-A997-24AC-F3E2-5709C69E4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757A1-4092-45BF-BD49-187127A31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3123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1E9E66-C92E-45A1-EFE1-4DC76AF06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7BE9908-9911-1976-CC00-855B747FF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1C810EC-461F-9E14-9039-997974BAC2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5A400A4-A2B7-F81E-3A73-3791F6E27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194D-4213-46CA-BFA6-A9B547B4E71C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AF13239-36AA-3948-00E5-9AD9AFD3A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832F52B-5C1B-85D3-DA45-871C57255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757A1-4092-45BF-BD49-187127A31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1932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82E2C3-551D-F862-FD0B-4C3749B4D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76A632D-C363-6702-7AC8-F4B120F0DD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BCD000A-13FC-00CA-0369-215B585A3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7D75E1B-9721-1811-1C34-6CCDE9E4B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194D-4213-46CA-BFA6-A9B547B4E71C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8770331-B190-ECED-2DB2-CE4F18C87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DA47297-1260-CE96-BF51-D2F2F8A9C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757A1-4092-45BF-BD49-187127A31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6911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B6D91E-81AD-18BC-1BDB-F4A8724EB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81DAAD9-2675-A4F4-C226-BE86B33B9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10E587-34E1-804D-BA6B-80E315109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194D-4213-46CA-BFA6-A9B547B4E71C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7EAF8B-5C52-7A0D-0559-7C9D53D75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B6148D-BB62-4871-6F99-6D5120AFA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757A1-4092-45BF-BD49-187127A31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5219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A9A37A6-A504-2C7E-8C10-C580341910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9753E84-AB49-A41E-FF79-D36B91C13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3D2D46-0D94-1AE6-10E0-9735B585C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194D-4213-46CA-BFA6-A9B547B4E71C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82C9419-060A-A2D1-19AB-B8452385B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3CB8BD-9D2D-7AD9-2E28-9E00F13C8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757A1-4092-45BF-BD49-187127A31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7922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83E3E09-1462-1D7A-1931-632A4251E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C3AB80-251A-1DEC-597D-71F8EE3F7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EA97284-34DB-F168-1C76-A45FB68745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7D194D-4213-46CA-BFA6-A9B547B4E71C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FB7CED-CA07-FE0F-30D8-148E92A09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65311E-246A-7A45-5B62-9E53368A0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6757A1-4092-45BF-BD49-187127A31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9834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609AB6-63C0-8FB7-6FE0-9A657CDB4C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RDAC 10</a:t>
            </a:r>
            <a:r>
              <a:rPr kumimoji="1" lang="ja-JP" altLang="en-US" dirty="0"/>
              <a:t>月分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B3E8F1B-0213-6D8B-BF5B-A9E4B36DA0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古川 大鷹</a:t>
            </a:r>
          </a:p>
        </p:txBody>
      </p:sp>
    </p:spTree>
    <p:extLst>
      <p:ext uri="{BB962C8B-B14F-4D97-AF65-F5344CB8AC3E}">
        <p14:creationId xmlns:p14="http://schemas.microsoft.com/office/powerpoint/2010/main" val="311152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1D0DF3-C01D-3AC3-A89A-32462CDBE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ボルテージフォロワ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705F96A-0645-2AA2-08B4-7344D474A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・出力範囲電圧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・位相余裕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・スルーレート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・出力電流</a:t>
            </a:r>
          </a:p>
        </p:txBody>
      </p:sp>
    </p:spTree>
    <p:extLst>
      <p:ext uri="{BB962C8B-B14F-4D97-AF65-F5344CB8AC3E}">
        <p14:creationId xmlns:p14="http://schemas.microsoft.com/office/powerpoint/2010/main" val="656897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4A11DA-277E-E1BB-2A35-E2F2055A9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159" y="553017"/>
            <a:ext cx="3282863" cy="1476200"/>
          </a:xfrm>
        </p:spPr>
        <p:txBody>
          <a:bodyPr>
            <a:normAutofit/>
          </a:bodyPr>
          <a:lstStyle/>
          <a:p>
            <a:r>
              <a:rPr lang="ja-JP" altLang="en-US" dirty="0"/>
              <a:t>ボルテージ</a:t>
            </a:r>
            <a:br>
              <a:rPr lang="en-US" altLang="ja-JP" dirty="0"/>
            </a:br>
            <a:r>
              <a:rPr lang="ja-JP" altLang="en-US" dirty="0"/>
              <a:t>フォロワ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B69689C-2418-1F1D-69C2-681C32D8BC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38791" y="334656"/>
            <a:ext cx="6901876" cy="638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065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3FF7A0-D659-6637-B8D4-872FEB1B5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841" y="247142"/>
            <a:ext cx="3671170" cy="967883"/>
          </a:xfrm>
        </p:spPr>
        <p:txBody>
          <a:bodyPr/>
          <a:lstStyle/>
          <a:p>
            <a:r>
              <a:rPr kumimoji="1" lang="ja-JP" altLang="en-US" dirty="0"/>
              <a:t>出力電圧範囲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1D23A8C-B726-12BB-7A7C-539BFAC7C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674" y="1370012"/>
            <a:ext cx="9833975" cy="1123638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仕様：</a:t>
            </a:r>
            <a:r>
              <a:rPr kumimoji="1" lang="en-US" altLang="ja-JP" dirty="0"/>
              <a:t>VSS + 0.7 </a:t>
            </a:r>
            <a:r>
              <a:rPr kumimoji="1" lang="ja-JP" altLang="en-US" dirty="0"/>
              <a:t>～ </a:t>
            </a:r>
            <a:r>
              <a:rPr kumimoji="1" lang="en-US" altLang="ja-JP" dirty="0"/>
              <a:t>VDD - 0.7  (VSS = 0[V], VDD = 3.3[V]</a:t>
            </a:r>
          </a:p>
          <a:p>
            <a:pPr marL="0" indent="0">
              <a:buNone/>
            </a:pPr>
            <a:r>
              <a:rPr kumimoji="1" lang="ja-JP" altLang="en-US" dirty="0"/>
              <a:t>以前よりは特性が改善した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D8C551A-C49F-4665-1EF9-D85C81E9F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454" y="2648638"/>
            <a:ext cx="4585842" cy="3844237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2F17BCA-9A42-8DF3-A2B8-3A026777B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134" y="2648638"/>
            <a:ext cx="4413315" cy="38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173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AD9091-F332-A47B-3D7A-F3C0FD8DD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345" y="212436"/>
            <a:ext cx="5576455" cy="1085395"/>
          </a:xfrm>
        </p:spPr>
        <p:txBody>
          <a:bodyPr/>
          <a:lstStyle/>
          <a:p>
            <a:r>
              <a:rPr kumimoji="1" lang="ja-JP" altLang="en-US" dirty="0"/>
              <a:t>出力電圧範囲 再測定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55C13C2-A10F-EF46-5966-D5C406BFB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545" y="1400752"/>
            <a:ext cx="6592455" cy="1085395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寸法：</a:t>
            </a:r>
            <a:r>
              <a:rPr kumimoji="1" lang="en-US" altLang="ja-JP" dirty="0"/>
              <a:t>L=0.5um</a:t>
            </a:r>
            <a:r>
              <a:rPr kumimoji="1" lang="ja-JP" altLang="en-US" dirty="0"/>
              <a:t>で統一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en-US" altLang="ja-JP" dirty="0"/>
              <a:t>W</a:t>
            </a:r>
            <a:r>
              <a:rPr lang="en-US" altLang="ja-JP" dirty="0"/>
              <a:t>=</a:t>
            </a:r>
            <a:r>
              <a:rPr kumimoji="1" lang="en-US" altLang="ja-JP" dirty="0"/>
              <a:t>20um, </a:t>
            </a:r>
            <a:r>
              <a:rPr lang="en-US" altLang="ja-JP" dirty="0"/>
              <a:t>pMOS</a:t>
            </a:r>
            <a:r>
              <a:rPr lang="ja-JP" altLang="en-US" dirty="0"/>
              <a:t>ソース接地のみ</a:t>
            </a:r>
            <a:r>
              <a:rPr lang="en-US" altLang="ja-JP" dirty="0"/>
              <a:t>40um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1380182-4EAC-85AF-E6DC-135666439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09" y="2589068"/>
            <a:ext cx="10196945" cy="403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374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09C599-8F51-8C4A-E220-1A5B5EBE1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8" y="83560"/>
            <a:ext cx="5516418" cy="757815"/>
          </a:xfrm>
        </p:spPr>
        <p:txBody>
          <a:bodyPr/>
          <a:lstStyle/>
          <a:p>
            <a:r>
              <a:rPr kumimoji="1" lang="ja-JP" altLang="en-US" dirty="0"/>
              <a:t>出力電圧範囲 再測定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E91EFC4-E858-1D43-251A-DCC4D2DCD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13" y="877455"/>
            <a:ext cx="2229161" cy="537285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30D92DEA-40A5-D916-5279-8E9A38F24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6774" y="877455"/>
            <a:ext cx="1724445" cy="5896985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4026898E-4EEA-4D09-4B0A-24298A430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4475" y="793895"/>
            <a:ext cx="1837771" cy="5980545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DA4B948A-7BDD-E633-DD58-6F49349D20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58262"/>
            <a:ext cx="2181529" cy="4010585"/>
          </a:xfrm>
          <a:prstGeom prst="rect">
            <a:avLst/>
          </a:prstGeom>
        </p:spPr>
      </p:pic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4A461741-3571-069C-D54D-FE8136ED6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730476"/>
            <a:ext cx="6022244" cy="15198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ja-JP" dirty="0"/>
              <a:t>DAC</a:t>
            </a:r>
            <a:r>
              <a:rPr kumimoji="1" lang="ja-JP" altLang="en-US" dirty="0"/>
              <a:t>の仕様を満たす範囲にはなった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en-US" altLang="ja-JP" dirty="0"/>
              <a:t>±1/2LSB(0.232mV)</a:t>
            </a:r>
            <a:r>
              <a:rPr kumimoji="1" lang="ja-JP" altLang="en-US" dirty="0"/>
              <a:t>の範囲に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収まった</a:t>
            </a:r>
            <a:r>
              <a:rPr kumimoji="1" lang="en-US" altLang="ja-JP" dirty="0"/>
              <a:t>(0.7V</a:t>
            </a:r>
            <a:r>
              <a:rPr kumimoji="1" lang="ja-JP" altLang="en-US" dirty="0"/>
              <a:t>～</a:t>
            </a:r>
            <a:r>
              <a:rPr kumimoji="1" lang="en-US" altLang="ja-JP" dirty="0"/>
              <a:t>2.6V</a:t>
            </a:r>
            <a:r>
              <a:rPr kumimoji="1" lang="ja-JP" altLang="en-US" dirty="0"/>
              <a:t>の間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66577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844273-25DE-8D10-D09B-1660B0250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109" y="237298"/>
            <a:ext cx="2674976" cy="862426"/>
          </a:xfrm>
        </p:spPr>
        <p:txBody>
          <a:bodyPr/>
          <a:lstStyle/>
          <a:p>
            <a:r>
              <a:rPr kumimoji="1" lang="ja-JP" altLang="en-US" dirty="0"/>
              <a:t>位相余裕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4DD31DD-0E89-CFBA-85A6-ED524CE651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8638" y="1253331"/>
            <a:ext cx="4672958" cy="435133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6B17AB5-BEC2-9B42-C6D8-0C39AD717831}"/>
              </a:ext>
            </a:extLst>
          </p:cNvPr>
          <p:cNvSpPr txBox="1"/>
          <p:nvPr/>
        </p:nvSpPr>
        <p:spPr>
          <a:xfrm>
            <a:off x="1484334" y="5874707"/>
            <a:ext cx="33695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位相補償キャパシタ：</a:t>
            </a:r>
            <a:r>
              <a:rPr kumimoji="1" lang="en-US" altLang="ja-JP" dirty="0"/>
              <a:t>2p[F]</a:t>
            </a:r>
          </a:p>
          <a:p>
            <a:r>
              <a:rPr kumimoji="1" lang="ja-JP" altLang="en-US" dirty="0"/>
              <a:t>位相余裕：</a:t>
            </a:r>
            <a:r>
              <a:rPr kumimoji="1" lang="en-US" altLang="ja-JP" dirty="0"/>
              <a:t>47°</a:t>
            </a:r>
            <a:r>
              <a:rPr kumimoji="1" lang="ja-JP" altLang="en-US" dirty="0"/>
              <a:t>程度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D39E4A67-B8FC-05E5-6C8D-F22362C30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307" y="1253331"/>
            <a:ext cx="5572028" cy="4351338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32A58B3-82AE-EE3C-E2B2-D920E19D99C6}"/>
              </a:ext>
            </a:extLst>
          </p:cNvPr>
          <p:cNvSpPr txBox="1"/>
          <p:nvPr/>
        </p:nvSpPr>
        <p:spPr>
          <a:xfrm>
            <a:off x="7559458" y="5874706"/>
            <a:ext cx="33695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位相補償キャパシタ：</a:t>
            </a:r>
            <a:r>
              <a:rPr lang="en-US" altLang="ja-JP" dirty="0"/>
              <a:t>1</a:t>
            </a:r>
            <a:r>
              <a:rPr kumimoji="1" lang="en-US" altLang="ja-JP" dirty="0"/>
              <a:t>p[F]</a:t>
            </a:r>
          </a:p>
          <a:p>
            <a:r>
              <a:rPr kumimoji="1" lang="ja-JP" altLang="en-US" dirty="0"/>
              <a:t>位相余裕：</a:t>
            </a:r>
            <a:r>
              <a:rPr kumimoji="1" lang="en-US" altLang="ja-JP" dirty="0"/>
              <a:t>41°</a:t>
            </a:r>
            <a:r>
              <a:rPr kumimoji="1" lang="ja-JP" altLang="en-US" dirty="0"/>
              <a:t>程度</a:t>
            </a:r>
          </a:p>
        </p:txBody>
      </p:sp>
    </p:spTree>
    <p:extLst>
      <p:ext uri="{BB962C8B-B14F-4D97-AF65-F5344CB8AC3E}">
        <p14:creationId xmlns:p14="http://schemas.microsoft.com/office/powerpoint/2010/main" val="3341900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D828F1-456C-DE2F-0179-0C7E4B990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70" y="131885"/>
            <a:ext cx="4340469" cy="793873"/>
          </a:xfrm>
        </p:spPr>
        <p:txBody>
          <a:bodyPr/>
          <a:lstStyle/>
          <a:p>
            <a:r>
              <a:rPr kumimoji="1" lang="ja-JP" altLang="en-US" dirty="0"/>
              <a:t>位相余裕 再測定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7C07EC9-D835-C106-E4CC-6D36EB1E15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9622" y="1156615"/>
            <a:ext cx="6131742" cy="5376069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1791781-E2B6-DBA4-7722-43B4DDF73FB1}"/>
              </a:ext>
            </a:extLst>
          </p:cNvPr>
          <p:cNvSpPr txBox="1"/>
          <p:nvPr/>
        </p:nvSpPr>
        <p:spPr>
          <a:xfrm>
            <a:off x="7058296" y="2146767"/>
            <a:ext cx="40551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位相補償キャパシタ：</a:t>
            </a:r>
            <a:r>
              <a:rPr lang="en-US" altLang="ja-JP" sz="2400" dirty="0"/>
              <a:t>1</a:t>
            </a:r>
            <a:r>
              <a:rPr kumimoji="1" lang="en-US" altLang="ja-JP" sz="2400" dirty="0"/>
              <a:t>p[F]</a:t>
            </a:r>
          </a:p>
          <a:p>
            <a:r>
              <a:rPr kumimoji="1" lang="ja-JP" altLang="en-US" sz="2400" dirty="0"/>
              <a:t>位相余裕：</a:t>
            </a:r>
            <a:r>
              <a:rPr lang="en-US" altLang="ja-JP" sz="2400" dirty="0"/>
              <a:t>53</a:t>
            </a:r>
            <a:r>
              <a:rPr kumimoji="1" lang="en-US" altLang="ja-JP" sz="2400" dirty="0"/>
              <a:t>°</a:t>
            </a:r>
            <a:r>
              <a:rPr kumimoji="1" lang="ja-JP" altLang="en-US" sz="2400" dirty="0"/>
              <a:t>程度</a:t>
            </a:r>
          </a:p>
        </p:txBody>
      </p:sp>
    </p:spTree>
    <p:extLst>
      <p:ext uri="{BB962C8B-B14F-4D97-AF65-F5344CB8AC3E}">
        <p14:creationId xmlns:p14="http://schemas.microsoft.com/office/powerpoint/2010/main" val="526151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A06449-5246-D7F7-B2A0-9F62359C8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スルーレート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0B2AAE6-A470-66FA-55FC-F060051649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13099"/>
            <a:ext cx="4522600" cy="435133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B8889FF-CEDF-F407-9C24-3236ACAFE0F6}"/>
              </a:ext>
            </a:extLst>
          </p:cNvPr>
          <p:cNvSpPr txBox="1"/>
          <p:nvPr/>
        </p:nvSpPr>
        <p:spPr>
          <a:xfrm>
            <a:off x="6096000" y="1988463"/>
            <a:ext cx="50897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・以前よりはかなり改善している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立ち上がり：</a:t>
            </a:r>
            <a:r>
              <a:rPr kumimoji="1" lang="en-US" altLang="ja-JP" sz="2400" dirty="0"/>
              <a:t>10.6459[V/us]</a:t>
            </a:r>
          </a:p>
          <a:p>
            <a:r>
              <a:rPr lang="ja-JP" altLang="en-US" sz="2400" dirty="0"/>
              <a:t>立ち上がり：</a:t>
            </a:r>
            <a:r>
              <a:rPr lang="en-US" altLang="ja-JP" sz="2400" dirty="0"/>
              <a:t>6.2224[V/us]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08401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C7589D-3CCD-B039-24E0-22CF3A0E0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161" y="28599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スルーレート 再測定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BFF94531-0602-4FE7-BDD3-893E85BA9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2546" y="1764079"/>
            <a:ext cx="5132023" cy="4676042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DE557A78-ED7E-189D-90CB-32A8CF99F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61" y="1764079"/>
            <a:ext cx="6041442" cy="96867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1E9E313-2CE1-B183-968C-63F19E7FC043}"/>
              </a:ext>
            </a:extLst>
          </p:cNvPr>
          <p:cNvSpPr txBox="1"/>
          <p:nvPr/>
        </p:nvSpPr>
        <p:spPr>
          <a:xfrm>
            <a:off x="5999284" y="3200400"/>
            <a:ext cx="56534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10%</a:t>
            </a:r>
            <a:r>
              <a:rPr kumimoji="1" lang="ja-JP" altLang="en-US" dirty="0"/>
              <a:t>：</a:t>
            </a:r>
            <a:r>
              <a:rPr kumimoji="1" lang="en-US" altLang="ja-JP" dirty="0"/>
              <a:t>0.3281V</a:t>
            </a:r>
          </a:p>
          <a:p>
            <a:r>
              <a:rPr lang="en-US" altLang="ja-JP" dirty="0"/>
              <a:t>90%</a:t>
            </a:r>
            <a:r>
              <a:rPr lang="ja-JP" altLang="en-US" dirty="0"/>
              <a:t>：</a:t>
            </a:r>
            <a:r>
              <a:rPr lang="en-US" altLang="ja-JP" dirty="0"/>
              <a:t>2.9529V</a:t>
            </a:r>
          </a:p>
          <a:p>
            <a:endParaRPr kumimoji="1" lang="en-US" altLang="ja-JP" dirty="0"/>
          </a:p>
          <a:p>
            <a:r>
              <a:rPr lang="en-US" altLang="ja-JP" dirty="0"/>
              <a:t>SRH = 11.345[V/us]</a:t>
            </a:r>
          </a:p>
          <a:p>
            <a:r>
              <a:rPr kumimoji="1" lang="en-US" altLang="ja-JP" dirty="0"/>
              <a:t>SRL = 6.449[V/us]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51796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BF5587-763C-BE98-5BF3-C4BC4909F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667" y="254976"/>
            <a:ext cx="2580172" cy="847447"/>
          </a:xfrm>
        </p:spPr>
        <p:txBody>
          <a:bodyPr/>
          <a:lstStyle/>
          <a:p>
            <a:r>
              <a:rPr kumimoji="1" lang="ja-JP" altLang="en-US" dirty="0"/>
              <a:t>出力電流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80F0426-BF07-75FC-F131-840F952561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667" y="1456349"/>
            <a:ext cx="5032873" cy="435133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E487448-8A46-A652-7193-34977070B7E3}"/>
              </a:ext>
            </a:extLst>
          </p:cNvPr>
          <p:cNvSpPr txBox="1"/>
          <p:nvPr/>
        </p:nvSpPr>
        <p:spPr>
          <a:xfrm>
            <a:off x="6096000" y="580292"/>
            <a:ext cx="5193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2.6uA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71705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315A23-16BC-D850-EFDC-661039A29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85" y="240139"/>
            <a:ext cx="2573215" cy="881796"/>
          </a:xfrm>
        </p:spPr>
        <p:txBody>
          <a:bodyPr/>
          <a:lstStyle/>
          <a:p>
            <a:r>
              <a:rPr kumimoji="1" lang="ja-JP" altLang="en-US" dirty="0"/>
              <a:t>出力電流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AFD6E81-5E69-A549-E477-B355D9A7FB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9770" y="1253331"/>
            <a:ext cx="4927503" cy="435133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F28F8A1-1BAD-1955-01A3-4FDA86395F9F}"/>
              </a:ext>
            </a:extLst>
          </p:cNvPr>
          <p:cNvSpPr txBox="1"/>
          <p:nvPr/>
        </p:nvSpPr>
        <p:spPr>
          <a:xfrm>
            <a:off x="1771903" y="5736065"/>
            <a:ext cx="2423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IOL =7.7mA(</a:t>
            </a:r>
            <a:r>
              <a:rPr kumimoji="1" lang="ja-JP" altLang="en-US" dirty="0"/>
              <a:t>最大値</a:t>
            </a:r>
            <a:r>
              <a:rPr kumimoji="1" lang="en-US" altLang="ja-JP" dirty="0"/>
              <a:t>)</a:t>
            </a:r>
            <a:br>
              <a:rPr kumimoji="1" lang="en-US" altLang="ja-JP" dirty="0"/>
            </a:br>
            <a:r>
              <a:rPr kumimoji="1" lang="en-US" altLang="ja-JP" dirty="0"/>
              <a:t>3.9703mA(</a:t>
            </a:r>
            <a:r>
              <a:rPr kumimoji="1" lang="ja-JP" altLang="en-US" dirty="0"/>
              <a:t>平均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EF69481-1AC0-FFAC-CC33-788DCB4D6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083" y="1253331"/>
            <a:ext cx="5023532" cy="4361854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27AE826-7E4A-BEFE-6705-785EA9F7388F}"/>
              </a:ext>
            </a:extLst>
          </p:cNvPr>
          <p:cNvSpPr txBox="1"/>
          <p:nvPr/>
        </p:nvSpPr>
        <p:spPr>
          <a:xfrm>
            <a:off x="7592411" y="5736065"/>
            <a:ext cx="2423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IOH =6.4mA(</a:t>
            </a:r>
            <a:r>
              <a:rPr kumimoji="1" lang="ja-JP" altLang="en-US" dirty="0"/>
              <a:t>最大値</a:t>
            </a:r>
            <a:r>
              <a:rPr kumimoji="1" lang="en-US" altLang="ja-JP" dirty="0"/>
              <a:t>)</a:t>
            </a:r>
          </a:p>
          <a:p>
            <a:r>
              <a:rPr lang="en-US" altLang="ja-JP" dirty="0"/>
              <a:t>-1.6uA(</a:t>
            </a:r>
            <a:r>
              <a:rPr lang="ja-JP" altLang="en-US" dirty="0"/>
              <a:t>平均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64809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67729E-3254-6622-9294-11A37C47B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出力電流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39A52E3B-AFC4-9AD7-1E32-01B6B5C2CF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7957" y="1858260"/>
            <a:ext cx="9296086" cy="442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584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699AFB-95E3-786F-BC11-B040F2333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623" y="1115"/>
            <a:ext cx="2828192" cy="1080049"/>
          </a:xfrm>
        </p:spPr>
        <p:txBody>
          <a:bodyPr/>
          <a:lstStyle/>
          <a:p>
            <a:r>
              <a:rPr kumimoji="1" lang="en-US" altLang="ja-JP" dirty="0"/>
              <a:t>DAC</a:t>
            </a:r>
            <a:r>
              <a:rPr kumimoji="1" lang="ja-JP" altLang="en-US" dirty="0"/>
              <a:t>評価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53D57CF-2A17-D407-BDB6-E993101AC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668" y="908722"/>
            <a:ext cx="10515600" cy="549092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ja-JP" dirty="0"/>
              <a:t>Gain</a:t>
            </a:r>
            <a:r>
              <a:rPr kumimoji="1" lang="ja-JP" altLang="en-US" dirty="0"/>
              <a:t>エラー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9559934-1E89-FC4F-EAF3-A9DF25E14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809" y="1457814"/>
            <a:ext cx="10690052" cy="4200264"/>
          </a:xfrm>
          <a:prstGeom prst="rect">
            <a:avLst/>
          </a:prstGeom>
        </p:spPr>
      </p:pic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492AD068-CC48-B055-0473-5CB45226D8AE}"/>
              </a:ext>
            </a:extLst>
          </p:cNvPr>
          <p:cNvSpPr txBox="1">
            <a:spLocks/>
          </p:cNvSpPr>
          <p:nvPr/>
        </p:nvSpPr>
        <p:spPr>
          <a:xfrm>
            <a:off x="2665686" y="5760182"/>
            <a:ext cx="2240421" cy="549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ja-JP" dirty="0"/>
              <a:t>3.29117</a:t>
            </a:r>
            <a:endParaRPr lang="ja-JP" altLang="en-US" dirty="0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3D6055ED-865E-606E-06F7-B6B52C494D91}"/>
              </a:ext>
            </a:extLst>
          </p:cNvPr>
          <p:cNvSpPr txBox="1">
            <a:spLocks/>
          </p:cNvSpPr>
          <p:nvPr/>
        </p:nvSpPr>
        <p:spPr>
          <a:xfrm>
            <a:off x="8618078" y="5760182"/>
            <a:ext cx="2240421" cy="9395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ja-JP" dirty="0"/>
              <a:t>3.28332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dirty="0"/>
              <a:t>誤差：</a:t>
            </a:r>
            <a:r>
              <a:rPr lang="en-US" altLang="ja-JP" dirty="0"/>
              <a:t>0.5%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89585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9F3D5A1-CC2C-8037-DF8E-00E8C099D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507" y="456131"/>
            <a:ext cx="3355731" cy="511023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オフセットエラー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6D2711A-E2AA-F3C9-6D22-ED0E4F13A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16" y="1173523"/>
            <a:ext cx="10801368" cy="4348045"/>
          </a:xfrm>
          <a:prstGeom prst="rect">
            <a:avLst/>
          </a:prstGeom>
        </p:spPr>
      </p:pic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8CE5DDE0-289C-4867-D927-0C662297588D}"/>
              </a:ext>
            </a:extLst>
          </p:cNvPr>
          <p:cNvSpPr txBox="1">
            <a:spLocks/>
          </p:cNvSpPr>
          <p:nvPr/>
        </p:nvSpPr>
        <p:spPr>
          <a:xfrm>
            <a:off x="2815156" y="5684477"/>
            <a:ext cx="2240421" cy="549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ja-JP" dirty="0"/>
              <a:t>2.1005nV</a:t>
            </a:r>
            <a:endParaRPr lang="ja-JP" altLang="en-US" dirty="0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8353F0BC-ECA0-934C-3B9D-026A7DE5FB41}"/>
              </a:ext>
            </a:extLst>
          </p:cNvPr>
          <p:cNvSpPr txBox="1">
            <a:spLocks/>
          </p:cNvSpPr>
          <p:nvPr/>
        </p:nvSpPr>
        <p:spPr>
          <a:xfrm>
            <a:off x="8431824" y="5684476"/>
            <a:ext cx="2857500" cy="1068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ja-JP" dirty="0"/>
              <a:t>23.9380nV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dirty="0"/>
              <a:t>誤差：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417087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524001" y="44625"/>
            <a:ext cx="8334269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10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月度アルバイト内容</a:t>
            </a:r>
            <a:endParaRPr lang="en-US" altLang="ja-JP" sz="1600" dirty="0"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１．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(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抵抗ラダー、キャパシタタイプ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12bitDAC)+</a:t>
            </a:r>
            <a:r>
              <a:rPr lang="ja-JP" altLang="en-US" sz="1600" u="sng" dirty="0">
                <a:latin typeface="Meiryo UI" pitchFamily="50" charset="-128"/>
                <a:ea typeface="Meiryo UI" pitchFamily="50" charset="-128"/>
              </a:rPr>
              <a:t>ボルテージフォロアーアンプ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回路設計、シミュレーション</a:t>
            </a:r>
            <a:endParaRPr lang="en-US" altLang="ja-JP" sz="1600" dirty="0">
              <a:latin typeface="Meiryo UI" pitchFamily="50" charset="-128"/>
              <a:ea typeface="Meiryo UI" pitchFamily="50" charset="-128"/>
            </a:endParaRPr>
          </a:p>
          <a:p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TOOL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：回路設計⇒</a:t>
            </a:r>
            <a:r>
              <a:rPr lang="en-US" altLang="ja-JP" sz="1600" dirty="0" err="1">
                <a:latin typeface="Meiryo UI" pitchFamily="50" charset="-128"/>
                <a:ea typeface="Meiryo UI" pitchFamily="50" charset="-128"/>
              </a:rPr>
              <a:t>Xschem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 or LTSPICE</a:t>
            </a:r>
            <a:r>
              <a:rPr lang="ja-JP" altLang="en-US" sz="1600" dirty="0" err="1">
                <a:latin typeface="Meiryo UI" pitchFamily="50" charset="-128"/>
                <a:ea typeface="Meiryo UI" pitchFamily="50" charset="-128"/>
              </a:rPr>
              <a:t>、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シミュレーション⇒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NGSPICE or LTSPICE</a:t>
            </a:r>
          </a:p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目標仕様：変換速度 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10MSPS</a:t>
            </a:r>
            <a:r>
              <a:rPr lang="en-US" altLang="ja-JP" sz="16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(</a:t>
            </a:r>
            <a:r>
              <a:rPr lang="ja-JP" altLang="en-US" sz="16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最悪 </a:t>
            </a:r>
            <a:r>
              <a:rPr lang="en-US" altLang="ja-JP" sz="16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5MSPS)</a:t>
            </a:r>
          </a:p>
          <a:p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SPICE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モデル：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N3(3V </a:t>
            </a:r>
            <a:r>
              <a:rPr lang="en-US" altLang="ja-JP" sz="1600" dirty="0" err="1">
                <a:latin typeface="Meiryo UI" pitchFamily="50" charset="-128"/>
                <a:ea typeface="Meiryo UI" pitchFamily="50" charset="-128"/>
              </a:rPr>
              <a:t>Nch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), P3(3V </a:t>
            </a:r>
            <a:r>
              <a:rPr lang="en-US" altLang="ja-JP" sz="1600" dirty="0" err="1">
                <a:latin typeface="Meiryo UI" pitchFamily="50" charset="-128"/>
                <a:ea typeface="Meiryo UI" pitchFamily="50" charset="-128"/>
              </a:rPr>
              <a:t>Pch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)</a:t>
            </a:r>
          </a:p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抵抗情報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:2kΩ/um</a:t>
            </a:r>
            <a:r>
              <a:rPr lang="en-US" altLang="ja-JP" sz="1600" baseline="30000" dirty="0">
                <a:latin typeface="Meiryo UI" pitchFamily="50" charset="-128"/>
                <a:ea typeface="Meiryo UI" pitchFamily="50" charset="-128"/>
              </a:rPr>
              <a:t>2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　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or 350Ω/um</a:t>
            </a:r>
            <a:r>
              <a:rPr lang="en-US" altLang="ja-JP" sz="1600" baseline="30000" dirty="0">
                <a:latin typeface="Meiryo UI" pitchFamily="50" charset="-128"/>
                <a:ea typeface="Meiryo UI" pitchFamily="50" charset="-128"/>
              </a:rPr>
              <a:t>2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 ,0.08fF/um</a:t>
            </a:r>
            <a:r>
              <a:rPr lang="en-US" altLang="ja-JP" sz="1600" baseline="30000" dirty="0">
                <a:latin typeface="Meiryo UI" pitchFamily="50" charset="-128"/>
                <a:ea typeface="Meiryo UI" pitchFamily="50" charset="-128"/>
              </a:rPr>
              <a:t>2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 </a:t>
            </a:r>
            <a:endParaRPr lang="en-US" altLang="ja-JP" sz="1600" dirty="0"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キャパシター情報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:1.32ff/um</a:t>
            </a:r>
            <a:r>
              <a:rPr lang="en-US" altLang="ja-JP" sz="1600" baseline="30000" dirty="0">
                <a:latin typeface="Meiryo UI" pitchFamily="50" charset="-128"/>
                <a:ea typeface="Meiryo UI" pitchFamily="50" charset="-128"/>
              </a:rPr>
              <a:t>2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, 80Ω/um</a:t>
            </a:r>
            <a:r>
              <a:rPr lang="en-US" altLang="ja-JP" sz="1600" baseline="30000" dirty="0">
                <a:latin typeface="Meiryo UI" pitchFamily="50" charset="-128"/>
                <a:ea typeface="Meiryo UI" pitchFamily="50" charset="-128"/>
              </a:rPr>
              <a:t>2</a:t>
            </a:r>
            <a:endParaRPr lang="en-US" altLang="ja-JP" sz="1600" dirty="0"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納品物：</a:t>
            </a:r>
            <a:r>
              <a:rPr lang="en-US" altLang="ja-JP" sz="1600" dirty="0" err="1">
                <a:latin typeface="Meiryo UI" pitchFamily="50" charset="-128"/>
                <a:ea typeface="Meiryo UI" pitchFamily="50" charset="-128"/>
              </a:rPr>
              <a:t>Xschem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のデータとシミュレーション報告書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(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フォーマットは、自由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)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及びデータシート</a:t>
            </a:r>
            <a:endParaRPr lang="en-US" altLang="ja-JP" sz="1600" dirty="0"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納期：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10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月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31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日</a:t>
            </a:r>
            <a:endParaRPr lang="en-US" altLang="ja-JP" sz="1600" dirty="0"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担当者：野田さん、古川さん</a:t>
            </a:r>
            <a:endParaRPr lang="en-US" altLang="ja-JP" sz="16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063552" y="2550964"/>
            <a:ext cx="691276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入力・出力信号情報</a:t>
            </a:r>
            <a:endParaRPr lang="en-US" altLang="ja-JP" sz="1400" dirty="0">
              <a:latin typeface="Meiryo UI" pitchFamily="50" charset="-128"/>
              <a:ea typeface="Meiryo UI" pitchFamily="50" charset="-128"/>
            </a:endParaRP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VDD:3.3V±10%</a:t>
            </a:r>
            <a:r>
              <a:rPr lang="ja-JP" altLang="en-US" sz="1400" dirty="0" err="1">
                <a:latin typeface="Meiryo UI" pitchFamily="50" charset="-128"/>
                <a:ea typeface="Meiryo UI" pitchFamily="50" charset="-128"/>
              </a:rPr>
              <a:t>、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VSS:0V</a:t>
            </a: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VREFH:VDD</a:t>
            </a:r>
            <a:r>
              <a:rPr lang="ja-JP" altLang="en-US" sz="1400" dirty="0" err="1">
                <a:latin typeface="Meiryo UI" pitchFamily="50" charset="-128"/>
                <a:ea typeface="Meiryo UI" pitchFamily="50" charset="-128"/>
              </a:rPr>
              <a:t>、</a:t>
            </a:r>
            <a:r>
              <a:rPr lang="en-US" altLang="ja-JP" sz="1400" dirty="0" err="1">
                <a:latin typeface="Meiryo UI" pitchFamily="50" charset="-128"/>
                <a:ea typeface="Meiryo UI" pitchFamily="50" charset="-128"/>
              </a:rPr>
              <a:t>Vrefl:VSS</a:t>
            </a:r>
            <a:r>
              <a:rPr lang="ja-JP" altLang="en-US" sz="1400" dirty="0" err="1">
                <a:latin typeface="Meiryo UI" pitchFamily="50" charset="-128"/>
                <a:ea typeface="Meiryo UI" pitchFamily="50" charset="-128"/>
              </a:rPr>
              <a:t>、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出力範囲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:VSS+0.7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～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VDD-0.7</a:t>
            </a: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DIN[11:0]:VIL=VDD*0.2, VIH=VDD*0.8, </a:t>
            </a:r>
            <a:r>
              <a:rPr lang="en-US" altLang="ja-JP" sz="1400" dirty="0" err="1">
                <a:latin typeface="Meiryo UI" pitchFamily="50" charset="-128"/>
                <a:ea typeface="Meiryo UI" pitchFamily="50" charset="-128"/>
              </a:rPr>
              <a:t>trise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=</a:t>
            </a:r>
            <a:r>
              <a:rPr lang="en-US" altLang="ja-JP" sz="1400" dirty="0" err="1">
                <a:latin typeface="Meiryo UI" pitchFamily="50" charset="-128"/>
                <a:ea typeface="Meiryo UI" pitchFamily="50" charset="-128"/>
              </a:rPr>
              <a:t>tfall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=1ns</a:t>
            </a: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DACO=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  <a:sym typeface="Wingdings" pitchFamily="2" charset="2"/>
              </a:rPr>
              <a:t>(</a:t>
            </a:r>
            <a:r>
              <a:rPr lang="en-US" altLang="ja-JP" sz="1400" dirty="0" err="1">
                <a:latin typeface="Meiryo UI" pitchFamily="50" charset="-128"/>
                <a:ea typeface="Meiryo UI" pitchFamily="50" charset="-128"/>
              </a:rPr>
              <a:t>Vrefh-Vrefl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)/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4096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 x din(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バイナリ値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)</a:t>
            </a: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PD:PD=VIL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でパワーダウンモード</a:t>
            </a:r>
            <a:endParaRPr lang="en-US" altLang="ja-JP" sz="1400" dirty="0">
              <a:latin typeface="Meiryo UI" pitchFamily="50" charset="-128"/>
              <a:ea typeface="Meiryo UI" pitchFamily="50" charset="-128"/>
            </a:endParaRPr>
          </a:p>
          <a:p>
            <a:r>
              <a:rPr lang="en-US" altLang="ja-JP" sz="1400" dirty="0" err="1">
                <a:latin typeface="Meiryo UI" pitchFamily="50" charset="-128"/>
                <a:ea typeface="Meiryo UI" pitchFamily="50" charset="-128"/>
              </a:rPr>
              <a:t>Iref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:±10uA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のバイアス電流源</a:t>
            </a:r>
            <a:endParaRPr lang="en-US" altLang="ja-JP" sz="1400" dirty="0">
              <a:latin typeface="Meiryo UI" pitchFamily="50" charset="-128"/>
              <a:ea typeface="Meiryo UI" pitchFamily="50" charset="-128"/>
            </a:endParaRP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VOUT:DACO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をボルテージフォロアアンプを経由した出力</a:t>
            </a:r>
            <a:endParaRPr lang="en-US" altLang="ja-JP" sz="1400" dirty="0">
              <a:latin typeface="Meiryo UI" pitchFamily="50" charset="-128"/>
              <a:ea typeface="Meiryo UI" pitchFamily="50" charset="-128"/>
            </a:endParaRP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din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⇒</a:t>
            </a:r>
            <a:r>
              <a:rPr lang="en-US" altLang="ja-JP" sz="1400" dirty="0" err="1">
                <a:latin typeface="Meiryo UI" pitchFamily="50" charset="-128"/>
                <a:ea typeface="Meiryo UI" pitchFamily="50" charset="-128"/>
              </a:rPr>
              <a:t>dout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出力遅延時間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:90ns max</a:t>
            </a:r>
          </a:p>
          <a:p>
            <a:r>
              <a:rPr lang="en-US" altLang="ja-JP" sz="1400" dirty="0" err="1">
                <a:latin typeface="Meiryo UI" pitchFamily="50" charset="-128"/>
                <a:ea typeface="Meiryo UI" pitchFamily="50" charset="-128"/>
              </a:rPr>
              <a:t>vm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=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出力範囲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/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4096</a:t>
            </a: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【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タイムチャート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】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以下参照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2135560" y="5013176"/>
            <a:ext cx="1512168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din[12’h0000]</a:t>
            </a:r>
            <a:endParaRPr lang="ja-JP" altLang="en-US" sz="12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3647728" y="5013176"/>
            <a:ext cx="1512168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din[12’hf1ff]</a:t>
            </a:r>
            <a:endParaRPr lang="ja-JP" altLang="en-US" sz="12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5159896" y="5013176"/>
            <a:ext cx="1512168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din[12’hfff]</a:t>
            </a:r>
            <a:endParaRPr lang="ja-JP" altLang="en-US" sz="12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6672064" y="5013176"/>
            <a:ext cx="1512168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din[12’h0ff]</a:t>
            </a:r>
            <a:endParaRPr lang="ja-JP" altLang="en-US" sz="12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8184232" y="5013176"/>
            <a:ext cx="1512168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din[12’h111]</a:t>
            </a:r>
            <a:endParaRPr lang="ja-JP" altLang="en-US" sz="12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2783632" y="5445224"/>
            <a:ext cx="86409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dout</a:t>
            </a:r>
            <a:r>
              <a:rPr lang="en-US" altLang="ja-JP" sz="12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=0</a:t>
            </a:r>
            <a:endParaRPr lang="ja-JP" altLang="en-US" sz="12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4223792" y="5445224"/>
            <a:ext cx="936104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dout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=</a:t>
            </a:r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vm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*1ff</a:t>
            </a:r>
            <a:endParaRPr lang="ja-JP" altLang="en-US" sz="10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5591944" y="5445224"/>
            <a:ext cx="1080120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dout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=</a:t>
            </a:r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vm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*</a:t>
            </a:r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fff</a:t>
            </a:r>
            <a:endParaRPr lang="ja-JP" altLang="en-US" sz="10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7104112" y="5445224"/>
            <a:ext cx="1080120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dout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=</a:t>
            </a:r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vm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*0ff</a:t>
            </a:r>
            <a:endParaRPr lang="ja-JP" altLang="en-US" sz="10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5" name="正方形/長方形 14"/>
          <p:cNvSpPr/>
          <p:nvPr/>
        </p:nvSpPr>
        <p:spPr>
          <a:xfrm>
            <a:off x="8616280" y="5445224"/>
            <a:ext cx="1080120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dout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=</a:t>
            </a:r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vm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*111</a:t>
            </a:r>
            <a:endParaRPr lang="ja-JP" altLang="en-US" sz="10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2135560" y="5445224"/>
            <a:ext cx="648072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不定</a:t>
            </a:r>
          </a:p>
        </p:txBody>
      </p:sp>
      <p:sp>
        <p:nvSpPr>
          <p:cNvPr id="17" name="正方形/長方形 16"/>
          <p:cNvSpPr/>
          <p:nvPr/>
        </p:nvSpPr>
        <p:spPr>
          <a:xfrm>
            <a:off x="3647728" y="5445224"/>
            <a:ext cx="576064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不定</a:t>
            </a:r>
          </a:p>
        </p:txBody>
      </p:sp>
      <p:sp>
        <p:nvSpPr>
          <p:cNvPr id="18" name="正方形/長方形 17"/>
          <p:cNvSpPr/>
          <p:nvPr/>
        </p:nvSpPr>
        <p:spPr>
          <a:xfrm>
            <a:off x="5159896" y="5445224"/>
            <a:ext cx="432048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不定</a:t>
            </a:r>
          </a:p>
        </p:txBody>
      </p:sp>
      <p:sp>
        <p:nvSpPr>
          <p:cNvPr id="19" name="正方形/長方形 18"/>
          <p:cNvSpPr/>
          <p:nvPr/>
        </p:nvSpPr>
        <p:spPr>
          <a:xfrm>
            <a:off x="6672064" y="5445224"/>
            <a:ext cx="432048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不定</a:t>
            </a:r>
          </a:p>
        </p:txBody>
      </p:sp>
      <p:sp>
        <p:nvSpPr>
          <p:cNvPr id="20" name="正方形/長方形 19"/>
          <p:cNvSpPr/>
          <p:nvPr/>
        </p:nvSpPr>
        <p:spPr>
          <a:xfrm>
            <a:off x="8184232" y="5445224"/>
            <a:ext cx="432048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不定</a:t>
            </a:r>
          </a:p>
        </p:txBody>
      </p:sp>
      <p:cxnSp>
        <p:nvCxnSpPr>
          <p:cNvPr id="22" name="直線コネクタ 21"/>
          <p:cNvCxnSpPr/>
          <p:nvPr/>
        </p:nvCxnSpPr>
        <p:spPr>
          <a:xfrm>
            <a:off x="2135560" y="5301208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/>
          <p:cNvCxnSpPr/>
          <p:nvPr/>
        </p:nvCxnSpPr>
        <p:spPr>
          <a:xfrm>
            <a:off x="3647728" y="5301208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/>
          <p:cNvCxnSpPr/>
          <p:nvPr/>
        </p:nvCxnSpPr>
        <p:spPr>
          <a:xfrm>
            <a:off x="5159896" y="5301208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/>
          <p:cNvCxnSpPr/>
          <p:nvPr/>
        </p:nvCxnSpPr>
        <p:spPr>
          <a:xfrm>
            <a:off x="2135560" y="6021288"/>
            <a:ext cx="1512168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/>
          <p:cNvCxnSpPr/>
          <p:nvPr/>
        </p:nvCxnSpPr>
        <p:spPr>
          <a:xfrm>
            <a:off x="3647728" y="6021288"/>
            <a:ext cx="1512168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/>
          <p:cNvSpPr txBox="1"/>
          <p:nvPr/>
        </p:nvSpPr>
        <p:spPr>
          <a:xfrm>
            <a:off x="2927649" y="6032322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100ns</a:t>
            </a:r>
            <a:endParaRPr lang="ja-JP" altLang="en-US" sz="1200" dirty="0"/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4454509" y="6021289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100ns</a:t>
            </a:r>
            <a:endParaRPr lang="ja-JP" altLang="en-US" sz="1200" dirty="0"/>
          </a:p>
        </p:txBody>
      </p:sp>
      <p:cxnSp>
        <p:nvCxnSpPr>
          <p:cNvPr id="30" name="直線コネクタ 29"/>
          <p:cNvCxnSpPr/>
          <p:nvPr/>
        </p:nvCxnSpPr>
        <p:spPr>
          <a:xfrm>
            <a:off x="6672064" y="5301208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/>
          <p:cNvCxnSpPr/>
          <p:nvPr/>
        </p:nvCxnSpPr>
        <p:spPr>
          <a:xfrm>
            <a:off x="8184232" y="5301208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/>
          <p:cNvCxnSpPr/>
          <p:nvPr/>
        </p:nvCxnSpPr>
        <p:spPr>
          <a:xfrm>
            <a:off x="9696400" y="5301208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/>
          <p:cNvCxnSpPr/>
          <p:nvPr/>
        </p:nvCxnSpPr>
        <p:spPr>
          <a:xfrm>
            <a:off x="5159896" y="6021288"/>
            <a:ext cx="1512168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/>
          <p:cNvCxnSpPr/>
          <p:nvPr/>
        </p:nvCxnSpPr>
        <p:spPr>
          <a:xfrm>
            <a:off x="6672064" y="6021288"/>
            <a:ext cx="1512168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矢印コネクタ 34"/>
          <p:cNvCxnSpPr/>
          <p:nvPr/>
        </p:nvCxnSpPr>
        <p:spPr>
          <a:xfrm>
            <a:off x="8184232" y="6021288"/>
            <a:ext cx="1512168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/>
          <p:cNvSpPr txBox="1"/>
          <p:nvPr/>
        </p:nvSpPr>
        <p:spPr>
          <a:xfrm>
            <a:off x="5966677" y="6021289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100ns</a:t>
            </a:r>
            <a:endParaRPr lang="ja-JP" altLang="en-US" sz="1200" dirty="0"/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7406837" y="6021289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100ns</a:t>
            </a:r>
            <a:endParaRPr lang="ja-JP" altLang="en-US" sz="1200" dirty="0"/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8991013" y="6021289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100ns</a:t>
            </a:r>
            <a:endParaRPr lang="ja-JP" altLang="en-US" sz="1200" dirty="0"/>
          </a:p>
        </p:txBody>
      </p:sp>
      <p:cxnSp>
        <p:nvCxnSpPr>
          <p:cNvPr id="42" name="直線コネクタ 41"/>
          <p:cNvCxnSpPr/>
          <p:nvPr/>
        </p:nvCxnSpPr>
        <p:spPr>
          <a:xfrm>
            <a:off x="2783632" y="5733256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/>
          <p:cNvCxnSpPr/>
          <p:nvPr/>
        </p:nvCxnSpPr>
        <p:spPr>
          <a:xfrm>
            <a:off x="4223792" y="5733256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/>
          <p:cNvCxnSpPr/>
          <p:nvPr/>
        </p:nvCxnSpPr>
        <p:spPr>
          <a:xfrm>
            <a:off x="5591944" y="5733256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/>
          <p:cNvCxnSpPr/>
          <p:nvPr/>
        </p:nvCxnSpPr>
        <p:spPr>
          <a:xfrm>
            <a:off x="8616280" y="5733256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49"/>
          <p:cNvCxnSpPr/>
          <p:nvPr/>
        </p:nvCxnSpPr>
        <p:spPr>
          <a:xfrm>
            <a:off x="2135560" y="5877272"/>
            <a:ext cx="648072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テキスト ボックス 51"/>
          <p:cNvSpPr txBox="1"/>
          <p:nvPr/>
        </p:nvSpPr>
        <p:spPr>
          <a:xfrm>
            <a:off x="2798324" y="5733257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&lt;90ns</a:t>
            </a:r>
            <a:endParaRPr lang="ja-JP" altLang="en-US" sz="1200" dirty="0"/>
          </a:p>
        </p:txBody>
      </p:sp>
      <p:cxnSp>
        <p:nvCxnSpPr>
          <p:cNvPr id="54" name="直線矢印コネクタ 53"/>
          <p:cNvCxnSpPr/>
          <p:nvPr/>
        </p:nvCxnSpPr>
        <p:spPr>
          <a:xfrm>
            <a:off x="3649332" y="5877272"/>
            <a:ext cx="574461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/>
          <p:cNvSpPr txBox="1"/>
          <p:nvPr/>
        </p:nvSpPr>
        <p:spPr>
          <a:xfrm>
            <a:off x="4312095" y="5733257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&lt;90ns</a:t>
            </a:r>
            <a:endParaRPr lang="ja-JP" altLang="en-US" sz="1200" dirty="0"/>
          </a:p>
        </p:txBody>
      </p:sp>
      <p:cxnSp>
        <p:nvCxnSpPr>
          <p:cNvPr id="57" name="直線矢印コネクタ 56"/>
          <p:cNvCxnSpPr/>
          <p:nvPr/>
        </p:nvCxnSpPr>
        <p:spPr>
          <a:xfrm>
            <a:off x="5163102" y="5877272"/>
            <a:ext cx="428842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/>
          <p:cNvSpPr txBox="1"/>
          <p:nvPr/>
        </p:nvSpPr>
        <p:spPr>
          <a:xfrm>
            <a:off x="5825866" y="5733257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&lt;90ns</a:t>
            </a:r>
            <a:endParaRPr lang="ja-JP" altLang="en-US" sz="1200" dirty="0"/>
          </a:p>
        </p:txBody>
      </p:sp>
      <p:cxnSp>
        <p:nvCxnSpPr>
          <p:cNvPr id="59" name="直線コネクタ 58"/>
          <p:cNvCxnSpPr/>
          <p:nvPr/>
        </p:nvCxnSpPr>
        <p:spPr>
          <a:xfrm>
            <a:off x="7324945" y="5733256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59"/>
          <p:cNvCxnSpPr/>
          <p:nvPr/>
        </p:nvCxnSpPr>
        <p:spPr>
          <a:xfrm>
            <a:off x="6676873" y="5877272"/>
            <a:ext cx="648072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テキスト ボックス 60"/>
          <p:cNvSpPr txBox="1"/>
          <p:nvPr/>
        </p:nvSpPr>
        <p:spPr>
          <a:xfrm>
            <a:off x="7339637" y="5733257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&lt;90ns</a:t>
            </a:r>
            <a:endParaRPr lang="ja-JP" altLang="en-US" sz="1200" dirty="0"/>
          </a:p>
        </p:txBody>
      </p:sp>
      <p:cxnSp>
        <p:nvCxnSpPr>
          <p:cNvPr id="63" name="直線矢印コネクタ 62"/>
          <p:cNvCxnSpPr/>
          <p:nvPr/>
        </p:nvCxnSpPr>
        <p:spPr>
          <a:xfrm>
            <a:off x="8190644" y="5877272"/>
            <a:ext cx="425636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テキスト ボックス 63"/>
          <p:cNvSpPr txBox="1"/>
          <p:nvPr/>
        </p:nvSpPr>
        <p:spPr>
          <a:xfrm>
            <a:off x="8920607" y="5733257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&lt;90ns</a:t>
            </a:r>
            <a:endParaRPr lang="ja-JP" altLang="en-US" sz="1200" dirty="0"/>
          </a:p>
        </p:txBody>
      </p:sp>
      <p:sp>
        <p:nvSpPr>
          <p:cNvPr id="51" name="スライド番号プレースホルダ 5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39D7E-0E06-4B1F-8112-F8D22E8141D5}" type="slidenum">
              <a:rPr kumimoji="1" lang="ja-JP" altLang="en-US" smtClean="0"/>
              <a:pPr/>
              <a:t>16</a:t>
            </a:fld>
            <a:endParaRPr kumimoji="1" lang="ja-JP" altLang="en-US"/>
          </a:p>
        </p:txBody>
      </p:sp>
      <p:sp>
        <p:nvSpPr>
          <p:cNvPr id="53" name="テキスト ボックス 52"/>
          <p:cNvSpPr txBox="1"/>
          <p:nvPr/>
        </p:nvSpPr>
        <p:spPr>
          <a:xfrm>
            <a:off x="7310446" y="2428869"/>
            <a:ext cx="30718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9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月の課題からの変更点</a:t>
            </a:r>
            <a:endParaRPr lang="en-US" altLang="ja-JP" sz="1400" dirty="0">
              <a:solidFill>
                <a:srgbClr val="FF0000"/>
              </a:solidFill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・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DAC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のビット数（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14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→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12)</a:t>
            </a:r>
          </a:p>
          <a:p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・出力範囲（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Rail to Rail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→緩和）</a:t>
            </a:r>
            <a:endParaRPr lang="en-US" altLang="ja-JP" sz="1400" dirty="0">
              <a:solidFill>
                <a:srgbClr val="FF0000"/>
              </a:solidFill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・変換速度の最悪値</a:t>
            </a:r>
            <a:endParaRPr lang="en-US" altLang="ja-JP" sz="1400" dirty="0">
              <a:solidFill>
                <a:srgbClr val="FF0000"/>
              </a:solidFill>
              <a:latin typeface="Meiryo UI" pitchFamily="50" charset="-128"/>
              <a:ea typeface="Meiryo UI" pitchFamily="50" charset="-128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524000" y="0"/>
            <a:ext cx="21788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データシートのフォーマット</a:t>
            </a:r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427164"/>
              </p:ext>
            </p:extLst>
          </p:nvPr>
        </p:nvGraphicFramePr>
        <p:xfrm>
          <a:off x="1919536" y="285728"/>
          <a:ext cx="8424936" cy="3313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29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5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1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0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21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21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0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3317">
                <a:tc gridSpan="8"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DAC</a:t>
                      </a:r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部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(VDD=3.3V, VSS=0V)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317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項目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Symbol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条件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目標値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typ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ワースト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単位</a:t>
                      </a:r>
                      <a:endParaRPr kumimoji="1" lang="en-US" altLang="ja-JP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084"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INL</a:t>
                      </a:r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エラー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INL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データ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=x000-</a:t>
                      </a:r>
                      <a:r>
                        <a:rPr kumimoji="1" lang="en-US" altLang="ja-JP" sz="1200" b="0" dirty="0">
                          <a:solidFill>
                            <a:srgbClr val="FF0000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xfff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Meiryo UI" pitchFamily="50" charset="-128"/>
                          <a:ea typeface="Meiryo UI" pitchFamily="50" charset="-128"/>
                        </a:rPr>
                        <a:t>±2</a:t>
                      </a:r>
                      <a:endParaRPr kumimoji="1" lang="ja-JP" altLang="en-US" sz="1200" dirty="0"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LSB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084"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DNL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DNL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データ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=x000-</a:t>
                      </a:r>
                      <a:r>
                        <a:rPr kumimoji="1" lang="en-US" altLang="ja-JP" sz="1200" b="0" dirty="0">
                          <a:solidFill>
                            <a:srgbClr val="FF0000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xfff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Meiryo UI" pitchFamily="50" charset="-128"/>
                          <a:ea typeface="Meiryo UI" pitchFamily="50" charset="-128"/>
                        </a:rPr>
                        <a:t>±1</a:t>
                      </a:r>
                      <a:endParaRPr kumimoji="1" lang="ja-JP" altLang="en-US" sz="1200" dirty="0"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LSB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084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オフセットエラー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Vos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VIN=</a:t>
                      </a:r>
                      <a:r>
                        <a:rPr kumimoji="1" lang="en-US" altLang="ja-JP" sz="1200" b="0" dirty="0">
                          <a:solidFill>
                            <a:srgbClr val="FF0000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x000</a:t>
                      </a:r>
                      <a:endParaRPr kumimoji="1" lang="ja-JP" altLang="en-US" sz="1200" b="0" dirty="0">
                        <a:solidFill>
                          <a:srgbClr val="FF0000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Meiryo UI" pitchFamily="50" charset="-128"/>
                          <a:ea typeface="Meiryo UI" pitchFamily="50" charset="-128"/>
                        </a:rPr>
                        <a:t>5</a:t>
                      </a:r>
                      <a:endParaRPr kumimoji="1" lang="ja-JP" altLang="en-US" sz="1200" dirty="0"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ほぼ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0%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%of FSR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084"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Gain </a:t>
                      </a:r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エラー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gE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VIN=</a:t>
                      </a:r>
                      <a:r>
                        <a:rPr kumimoji="1" lang="en-US" altLang="ja-JP" sz="1200" b="0" dirty="0" err="1">
                          <a:solidFill>
                            <a:srgbClr val="FF0000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xfff</a:t>
                      </a:r>
                      <a:endParaRPr kumimoji="1" lang="ja-JP" altLang="en-US" sz="1200" b="0" dirty="0">
                        <a:solidFill>
                          <a:srgbClr val="FF0000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5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0.5%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%of FSR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9084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消費電流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IDD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VIN=</a:t>
                      </a:r>
                      <a:r>
                        <a:rPr kumimoji="1" lang="en-US" altLang="ja-JP" sz="1200" b="0" dirty="0" err="1">
                          <a:solidFill>
                            <a:srgbClr val="FF0000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xfff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, PD=VIH, f=10MHz*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5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mA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9084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スタンバイ電流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IDDS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PD=VIL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100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uA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3317">
                <a:tc gridSpan="8"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ボルテージフォロワーアンプ部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(VDD=3.3V, VSS=0V)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3317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出力電圧範囲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VOUT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/>
                        <a:t>**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0.64</a:t>
                      </a:r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～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3.02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513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位相裕度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Φ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/>
                        <a:t>90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51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°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3513"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Slew Rate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SR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RL=1k,</a:t>
                      </a:r>
                      <a:r>
                        <a:rPr kumimoji="1" lang="en-US" altLang="ja-JP" sz="1200" b="0" baseline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 </a:t>
                      </a:r>
                      <a:r>
                        <a:rPr kumimoji="1" lang="en-US" altLang="ja-JP" sz="1200" b="0" baseline="0" dirty="0" err="1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Vout</a:t>
                      </a:r>
                      <a:r>
                        <a:rPr kumimoji="1" lang="en-US" altLang="ja-JP" sz="1200" b="0" baseline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=2VPP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/>
                        <a:t>20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11.345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V/us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3513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出力電流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IOUT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CL=1pF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/>
                        <a:t>1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7.7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err="1"/>
                        <a:t>mA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テキスト ボックス 5"/>
          <p:cNvSpPr txBox="1"/>
          <p:nvPr/>
        </p:nvSpPr>
        <p:spPr>
          <a:xfrm>
            <a:off x="1596009" y="3963719"/>
            <a:ext cx="9557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ブロック図</a:t>
            </a:r>
          </a:p>
        </p:txBody>
      </p:sp>
      <p:sp>
        <p:nvSpPr>
          <p:cNvPr id="7" name="台形 6"/>
          <p:cNvSpPr/>
          <p:nvPr/>
        </p:nvSpPr>
        <p:spPr>
          <a:xfrm>
            <a:off x="2927648" y="4638671"/>
            <a:ext cx="1008112" cy="792088"/>
          </a:xfrm>
          <a:prstGeom prst="trapezoid">
            <a:avLst/>
          </a:prstGeom>
          <a:noFill/>
          <a:ln>
            <a:solidFill>
              <a:schemeClr val="tx1"/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775520" y="4899824"/>
            <a:ext cx="936104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DIN[11:0]</a:t>
            </a:r>
            <a:endParaRPr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cxnSp>
        <p:nvCxnSpPr>
          <p:cNvPr id="10" name="直線矢印コネクタ 9"/>
          <p:cNvCxnSpPr>
            <a:stCxn id="8" idx="3"/>
            <a:endCxn id="7" idx="1"/>
          </p:cNvCxnSpPr>
          <p:nvPr/>
        </p:nvCxnSpPr>
        <p:spPr>
          <a:xfrm>
            <a:off x="2711625" y="5028509"/>
            <a:ext cx="315035" cy="6207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2639616" y="4179744"/>
            <a:ext cx="2232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Meiryo UI" pitchFamily="50" charset="-128"/>
                <a:ea typeface="Meiryo UI" pitchFamily="50" charset="-128"/>
              </a:rPr>
              <a:t>抵抗ラダー、キャパシタタイプ </a:t>
            </a:r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DAC</a:t>
            </a:r>
            <a:endParaRPr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3" name="二等辺三角形 12"/>
          <p:cNvSpPr/>
          <p:nvPr/>
        </p:nvSpPr>
        <p:spPr>
          <a:xfrm>
            <a:off x="4655840" y="4827815"/>
            <a:ext cx="1080120" cy="792088"/>
          </a:xfrm>
          <a:prstGeom prst="triangle">
            <a:avLst/>
          </a:prstGeom>
          <a:noFill/>
          <a:ln>
            <a:solidFill>
              <a:schemeClr val="tx1"/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2135560" y="5979944"/>
            <a:ext cx="504056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r"/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PD</a:t>
            </a:r>
          </a:p>
        </p:txBody>
      </p:sp>
      <p:cxnSp>
        <p:nvCxnSpPr>
          <p:cNvPr id="17" name="図形 16"/>
          <p:cNvCxnSpPr>
            <a:stCxn id="15" idx="3"/>
            <a:endCxn id="7" idx="2"/>
          </p:cNvCxnSpPr>
          <p:nvPr/>
        </p:nvCxnSpPr>
        <p:spPr>
          <a:xfrm flipV="1">
            <a:off x="2639616" y="5430760"/>
            <a:ext cx="792088" cy="677869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/>
          <p:cNvCxnSpPr>
            <a:stCxn id="7" idx="3"/>
          </p:cNvCxnSpPr>
          <p:nvPr/>
        </p:nvCxnSpPr>
        <p:spPr>
          <a:xfrm>
            <a:off x="3836750" y="5034715"/>
            <a:ext cx="963107" cy="912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/>
          <p:cNvCxnSpPr/>
          <p:nvPr/>
        </p:nvCxnSpPr>
        <p:spPr>
          <a:xfrm>
            <a:off x="5591944" y="5187855"/>
            <a:ext cx="10801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/>
          <p:cNvCxnSpPr/>
          <p:nvPr/>
        </p:nvCxnSpPr>
        <p:spPr>
          <a:xfrm>
            <a:off x="6096000" y="5187855"/>
            <a:ext cx="0" cy="7200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/>
          <p:cNvCxnSpPr/>
          <p:nvPr/>
        </p:nvCxnSpPr>
        <p:spPr>
          <a:xfrm flipH="1">
            <a:off x="4223792" y="5907935"/>
            <a:ext cx="18722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/>
          <p:cNvCxnSpPr/>
          <p:nvPr/>
        </p:nvCxnSpPr>
        <p:spPr>
          <a:xfrm flipV="1">
            <a:off x="4223792" y="5475887"/>
            <a:ext cx="0" cy="4320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/>
          <p:cNvCxnSpPr/>
          <p:nvPr/>
        </p:nvCxnSpPr>
        <p:spPr>
          <a:xfrm>
            <a:off x="4223792" y="5475887"/>
            <a:ext cx="576064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48"/>
          <p:cNvSpPr txBox="1"/>
          <p:nvPr/>
        </p:nvSpPr>
        <p:spPr>
          <a:xfrm>
            <a:off x="4799856" y="4901565"/>
            <a:ext cx="351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+</a:t>
            </a:r>
          </a:p>
          <a:p>
            <a:r>
              <a:rPr lang="en-US" altLang="ja-JP" dirty="0"/>
              <a:t>-</a:t>
            </a:r>
            <a:endParaRPr lang="ja-JP" altLang="en-US" dirty="0"/>
          </a:p>
        </p:txBody>
      </p:sp>
      <p:cxnSp>
        <p:nvCxnSpPr>
          <p:cNvPr id="55" name="直線コネクタ 54"/>
          <p:cNvCxnSpPr/>
          <p:nvPr/>
        </p:nvCxnSpPr>
        <p:spPr>
          <a:xfrm flipH="1">
            <a:off x="2639616" y="6411991"/>
            <a:ext cx="273630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/>
          <p:cNvCxnSpPr/>
          <p:nvPr/>
        </p:nvCxnSpPr>
        <p:spPr>
          <a:xfrm flipV="1">
            <a:off x="5375920" y="5403879"/>
            <a:ext cx="0" cy="100811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コネクタ 60"/>
          <p:cNvCxnSpPr/>
          <p:nvPr/>
        </p:nvCxnSpPr>
        <p:spPr>
          <a:xfrm flipH="1">
            <a:off x="3431704" y="6123959"/>
            <a:ext cx="158417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/>
          <p:cNvCxnSpPr/>
          <p:nvPr/>
        </p:nvCxnSpPr>
        <p:spPr>
          <a:xfrm flipV="1">
            <a:off x="5015880" y="5619903"/>
            <a:ext cx="0" cy="5040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テキスト ボックス 64"/>
          <p:cNvSpPr txBox="1"/>
          <p:nvPr/>
        </p:nvSpPr>
        <p:spPr>
          <a:xfrm>
            <a:off x="6744072" y="5043840"/>
            <a:ext cx="936104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VOUT</a:t>
            </a:r>
            <a:endParaRPr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66" name="テキスト ボックス 65"/>
          <p:cNvSpPr txBox="1"/>
          <p:nvPr/>
        </p:nvSpPr>
        <p:spPr>
          <a:xfrm>
            <a:off x="3863752" y="4755808"/>
            <a:ext cx="936104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DACO</a:t>
            </a:r>
            <a:endParaRPr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67" name="テキスト ボックス 66"/>
          <p:cNvSpPr txBox="1"/>
          <p:nvPr/>
        </p:nvSpPr>
        <p:spPr>
          <a:xfrm>
            <a:off x="4943872" y="4179744"/>
            <a:ext cx="2232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Meiryo UI" pitchFamily="50" charset="-128"/>
                <a:ea typeface="Meiryo UI" pitchFamily="50" charset="-128"/>
              </a:rPr>
              <a:t>ボルテージフォロワーアンプ</a:t>
            </a:r>
          </a:p>
        </p:txBody>
      </p:sp>
      <p:sp>
        <p:nvSpPr>
          <p:cNvPr id="27" name="スライド番号プレースホル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39D7E-0E06-4B1F-8112-F8D22E8141D5}" type="slidenum">
              <a:rPr kumimoji="1" lang="ja-JP" altLang="en-US" smtClean="0"/>
              <a:pPr/>
              <a:t>17</a:t>
            </a:fld>
            <a:endParaRPr kumimoji="1" lang="ja-JP" altLang="en-US"/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1919536" y="3656058"/>
            <a:ext cx="43193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*:f=DIN</a:t>
            </a:r>
            <a:r>
              <a:rPr lang="ja-JP" altLang="en-US" sz="1200" dirty="0">
                <a:latin typeface="Meiryo UI" pitchFamily="50" charset="-128"/>
                <a:ea typeface="Meiryo UI" pitchFamily="50" charset="-128"/>
              </a:rPr>
              <a:t>のサイクル周波数</a:t>
            </a:r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, **:</a:t>
            </a:r>
            <a:r>
              <a:rPr lang="en-US" altLang="ja-JP" sz="12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 :VSS+0.7</a:t>
            </a:r>
            <a:r>
              <a:rPr lang="ja-JP" altLang="en-US" sz="12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～</a:t>
            </a:r>
            <a:r>
              <a:rPr lang="en-US" altLang="ja-JP" sz="12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VDD-0.7</a:t>
            </a:r>
            <a:endParaRPr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1703512" y="6165305"/>
            <a:ext cx="936104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r"/>
            <a:r>
              <a:rPr lang="en-US" altLang="ja-JP" sz="1200" dirty="0" err="1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IrefSink</a:t>
            </a:r>
            <a:endParaRPr lang="en-US" altLang="ja-JP" sz="1200" dirty="0">
              <a:solidFill>
                <a:srgbClr val="FF0000"/>
              </a:solidFill>
              <a:latin typeface="Meiryo UI" pitchFamily="50" charset="-128"/>
              <a:ea typeface="Meiryo UI" pitchFamily="50" charset="-128"/>
            </a:endParaRPr>
          </a:p>
          <a:p>
            <a:pPr algn="r"/>
            <a:r>
              <a:rPr lang="en-US" altLang="ja-JP" sz="1200" dirty="0" err="1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IrefSource</a:t>
            </a:r>
            <a:endParaRPr lang="en-US" altLang="ja-JP" sz="1200" dirty="0">
              <a:solidFill>
                <a:srgbClr val="FF0000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3719736" y="6309321"/>
            <a:ext cx="360040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r"/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/2</a:t>
            </a:r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7310446" y="3857628"/>
            <a:ext cx="30718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9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月の課題からの変更点</a:t>
            </a:r>
            <a:endParaRPr lang="en-US" altLang="ja-JP" sz="1400" dirty="0">
              <a:solidFill>
                <a:srgbClr val="FF0000"/>
              </a:solidFill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・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DAC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のビット数（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14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→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12)</a:t>
            </a:r>
          </a:p>
          <a:p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・出力範囲（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Rail to Rail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→緩和）</a:t>
            </a:r>
            <a:endParaRPr lang="en-US" altLang="ja-JP" sz="1400" dirty="0">
              <a:solidFill>
                <a:srgbClr val="FF0000"/>
              </a:solidFill>
              <a:latin typeface="Meiryo UI" pitchFamily="50" charset="-128"/>
              <a:ea typeface="Meiryo UI" pitchFamily="50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827</TotalTime>
  <Words>744</Words>
  <Application>Microsoft Office PowerPoint</Application>
  <PresentationFormat>ワイド画面</PresentationFormat>
  <Paragraphs>185</Paragraphs>
  <Slides>17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2" baseType="lpstr">
      <vt:lpstr>Meiryo UI</vt:lpstr>
      <vt:lpstr>游ゴシック</vt:lpstr>
      <vt:lpstr>游ゴシック Light</vt:lpstr>
      <vt:lpstr>Arial</vt:lpstr>
      <vt:lpstr>Office テーマ</vt:lpstr>
      <vt:lpstr>RDAC 10月分</vt:lpstr>
      <vt:lpstr>ボルテージフォロワ</vt:lpstr>
      <vt:lpstr>ボルテージ フォロワ</vt:lpstr>
      <vt:lpstr>出力電圧範囲</vt:lpstr>
      <vt:lpstr>出力電圧範囲 再測定</vt:lpstr>
      <vt:lpstr>出力電圧範囲 再測定</vt:lpstr>
      <vt:lpstr>位相余裕</vt:lpstr>
      <vt:lpstr>位相余裕 再測定</vt:lpstr>
      <vt:lpstr>スルーレート</vt:lpstr>
      <vt:lpstr>スルーレート 再測定</vt:lpstr>
      <vt:lpstr>出力電流</vt:lpstr>
      <vt:lpstr>出力電流</vt:lpstr>
      <vt:lpstr>出力電流</vt:lpstr>
      <vt:lpstr>DAC評価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4CJNM022</dc:creator>
  <cp:lastModifiedBy>4CJNM022</cp:lastModifiedBy>
  <cp:revision>7</cp:revision>
  <dcterms:created xsi:type="dcterms:W3CDTF">2025-10-29T04:41:28Z</dcterms:created>
  <dcterms:modified xsi:type="dcterms:W3CDTF">2025-11-05T08:08:42Z</dcterms:modified>
</cp:coreProperties>
</file>
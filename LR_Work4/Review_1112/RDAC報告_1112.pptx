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75" r:id="rId4"/>
    <p:sldId id="274" r:id="rId5"/>
    <p:sldId id="284" r:id="rId6"/>
    <p:sldId id="257" r:id="rId7"/>
    <p:sldId id="261" r:id="rId8"/>
    <p:sldId id="262" r:id="rId9"/>
    <p:sldId id="263" r:id="rId10"/>
    <p:sldId id="259" r:id="rId11"/>
    <p:sldId id="267" r:id="rId12"/>
    <p:sldId id="269" r:id="rId13"/>
    <p:sldId id="278" r:id="rId14"/>
    <p:sldId id="276" r:id="rId15"/>
    <p:sldId id="277" r:id="rId16"/>
    <p:sldId id="279" r:id="rId17"/>
    <p:sldId id="280" r:id="rId18"/>
    <p:sldId id="281" r:id="rId19"/>
    <p:sldId id="282" r:id="rId20"/>
    <p:sldId id="265" r:id="rId21"/>
    <p:sldId id="283" r:id="rId22"/>
    <p:sldId id="285" r:id="rId23"/>
    <p:sldId id="264" r:id="rId2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A7ECCE-9C00-1F25-6A01-02330BB8BC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8EB2F19-A9AD-3C52-BD44-13D3BC7FB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42D262-CF90-88A0-3BBA-E282DE148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194D-4213-46CA-BFA6-A9B547B4E71C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2EADB4-2124-7596-708F-44FCF7815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38C5D7-3107-8ACE-DEBD-A5B50494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757A1-4092-45BF-BD49-187127A31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1096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A930B5-890E-02E1-F80F-91EE78C9D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A802B8-B086-429D-E6DF-976A64B91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300190-6424-420F-A453-DF6E0D55A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194D-4213-46CA-BFA6-A9B547B4E71C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6B5E3D-E6C5-CBC5-8E91-6F1DBB8F2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24AA82-2276-D187-5A5F-3D5E69532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757A1-4092-45BF-BD49-187127A31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6920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9CCE35-AA4F-B248-08C8-09B7AEB05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652928F-6BF7-38BE-25B1-00AE69DBE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F6EF82-399C-BF18-A37F-369070B6D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194D-4213-46CA-BFA6-A9B547B4E71C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6E8477-8325-33ED-1E07-49EF80947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8A784C-F7E8-B330-6CB5-A409FA4AA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757A1-4092-45BF-BD49-187127A31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6127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07DED0-AAE3-9AD1-09C9-DAB7A8592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4C558CA-80CE-7908-AC86-85DBDB67D8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E9557CA-27FD-D522-B34A-C21B36AE8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BD297DB-71F4-E1B1-5BBD-B4D7F04CB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194D-4213-46CA-BFA6-A9B547B4E71C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E086359-26A5-ADDF-59DA-A02F6FCC9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C1460FA-A8BE-D325-6798-4E60CAAD9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757A1-4092-45BF-BD49-187127A31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2134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E64C23-95C5-67B7-C269-1C04ADEE1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CB701AD-723A-B7E7-3423-56BD4A388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654744F-EE1D-14AF-9625-C18B1D9513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F679A98-C3F6-84BA-1216-C0E2268B5E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48D92AD-DF1B-813A-ED43-FC446923FF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FF48369-3534-E100-7A18-C1926C069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194D-4213-46CA-BFA6-A9B547B4E71C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134D583-233A-78C8-AEE3-EE2C8F48A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5A92AC7-71EF-E9CB-C307-669837B0C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757A1-4092-45BF-BD49-187127A31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135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038317-5BFE-FC52-70AE-67430BA02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0B7F663-5513-8451-2E34-14317A6DB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194D-4213-46CA-BFA6-A9B547B4E71C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6E6365D-92AB-AA9F-B6EC-CDFB86252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B29A657-374E-448E-DB98-A2395CF01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757A1-4092-45BF-BD49-187127A31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8659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8E3D5CA-E1F6-A94B-D961-4E37823A6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194D-4213-46CA-BFA6-A9B547B4E71C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D508269-4A48-015D-19C7-24E2983C3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3C924C-A997-24AC-F3E2-5709C69E4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757A1-4092-45BF-BD49-187127A31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3123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1E9E66-C92E-45A1-EFE1-4DC76AF06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7BE9908-9911-1976-CC00-855B747FF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1C810EC-461F-9E14-9039-997974BAC2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5A400A4-A2B7-F81E-3A73-3791F6E27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194D-4213-46CA-BFA6-A9B547B4E71C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AF13239-36AA-3948-00E5-9AD9AFD3A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832F52B-5C1B-85D3-DA45-871C57255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757A1-4092-45BF-BD49-187127A31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1932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82E2C3-551D-F862-FD0B-4C3749B4D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76A632D-C363-6702-7AC8-F4B120F0DD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BCD000A-13FC-00CA-0369-215B585A3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7D75E1B-9721-1811-1C34-6CCDE9E4B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194D-4213-46CA-BFA6-A9B547B4E71C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8770331-B190-ECED-2DB2-CE4F18C87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DA47297-1260-CE96-BF51-D2F2F8A9C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757A1-4092-45BF-BD49-187127A31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6911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B6D91E-81AD-18BC-1BDB-F4A8724EB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81DAAD9-2675-A4F4-C226-BE86B33B9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10E587-34E1-804D-BA6B-80E315109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194D-4213-46CA-BFA6-A9B547B4E71C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7EAF8B-5C52-7A0D-0559-7C9D53D75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B6148D-BB62-4871-6F99-6D5120AFA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757A1-4092-45BF-BD49-187127A31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5219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A9A37A6-A504-2C7E-8C10-C580341910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9753E84-AB49-A41E-FF79-D36B91C13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3D2D46-0D94-1AE6-10E0-9735B585C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194D-4213-46CA-BFA6-A9B547B4E71C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82C9419-060A-A2D1-19AB-B8452385B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3CB8BD-9D2D-7AD9-2E28-9E00F13C8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757A1-4092-45BF-BD49-187127A31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7922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83E3E09-1462-1D7A-1931-632A4251E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C3AB80-251A-1DEC-597D-71F8EE3F7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EA97284-34DB-F168-1C76-A45FB68745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7D194D-4213-46CA-BFA6-A9B547B4E71C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FB7CED-CA07-FE0F-30D8-148E92A09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65311E-246A-7A45-5B62-9E53368A0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6757A1-4092-45BF-BD49-187127A31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9834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609AB6-63C0-8FB7-6FE0-9A657CDB4C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RDAC 10</a:t>
            </a:r>
            <a:r>
              <a:rPr kumimoji="1" lang="ja-JP" altLang="en-US" dirty="0"/>
              <a:t>月分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B3E8F1B-0213-6D8B-BF5B-A9E4B36DA0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古川 大鷹</a:t>
            </a:r>
          </a:p>
        </p:txBody>
      </p:sp>
    </p:spTree>
    <p:extLst>
      <p:ext uri="{BB962C8B-B14F-4D97-AF65-F5344CB8AC3E}">
        <p14:creationId xmlns:p14="http://schemas.microsoft.com/office/powerpoint/2010/main" val="311152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418494" y="211679"/>
            <a:ext cx="849043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10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月度アルバイト内容</a:t>
            </a:r>
            <a:endParaRPr lang="en-US" altLang="ja-JP" sz="1600" dirty="0"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１．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(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抵抗ラダー、キャパシタタイプ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12bitDAC)+</a:t>
            </a:r>
            <a:r>
              <a:rPr lang="ja-JP" altLang="en-US" sz="1600" u="sng" dirty="0">
                <a:latin typeface="Meiryo UI" pitchFamily="50" charset="-128"/>
                <a:ea typeface="Meiryo UI" pitchFamily="50" charset="-128"/>
              </a:rPr>
              <a:t>ボルテージフォロアーアンプ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回路設計、シミュレーション</a:t>
            </a:r>
            <a:endParaRPr lang="en-US" altLang="ja-JP" sz="1600" dirty="0">
              <a:latin typeface="Meiryo UI" pitchFamily="50" charset="-128"/>
              <a:ea typeface="Meiryo UI" pitchFamily="50" charset="-128"/>
            </a:endParaRPr>
          </a:p>
          <a:p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TOOL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：回路設計⇒</a:t>
            </a:r>
            <a:r>
              <a:rPr lang="en-US" altLang="ja-JP" sz="1600" dirty="0" err="1">
                <a:latin typeface="Meiryo UI" pitchFamily="50" charset="-128"/>
                <a:ea typeface="Meiryo UI" pitchFamily="50" charset="-128"/>
              </a:rPr>
              <a:t>Xschem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 or LTSPICE</a:t>
            </a:r>
            <a:r>
              <a:rPr lang="ja-JP" altLang="en-US" sz="1600" dirty="0" err="1">
                <a:latin typeface="Meiryo UI" pitchFamily="50" charset="-128"/>
                <a:ea typeface="Meiryo UI" pitchFamily="50" charset="-128"/>
              </a:rPr>
              <a:t>、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シミュレーション⇒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NGSPICE or LTSPICE</a:t>
            </a:r>
          </a:p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目標仕様：変換速度 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10MSPS</a:t>
            </a:r>
            <a:r>
              <a:rPr lang="en-US" altLang="ja-JP" sz="16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(</a:t>
            </a:r>
            <a:r>
              <a:rPr lang="ja-JP" altLang="en-US" sz="16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最悪 </a:t>
            </a:r>
            <a:r>
              <a:rPr lang="en-US" altLang="ja-JP" sz="16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5MSPS)</a:t>
            </a:r>
          </a:p>
          <a:p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SPICE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モデル：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N3(3V </a:t>
            </a:r>
            <a:r>
              <a:rPr lang="en-US" altLang="ja-JP" sz="1600" dirty="0" err="1">
                <a:latin typeface="Meiryo UI" pitchFamily="50" charset="-128"/>
                <a:ea typeface="Meiryo UI" pitchFamily="50" charset="-128"/>
              </a:rPr>
              <a:t>Nch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), P3(3V </a:t>
            </a:r>
            <a:r>
              <a:rPr lang="en-US" altLang="ja-JP" sz="1600" dirty="0" err="1">
                <a:latin typeface="Meiryo UI" pitchFamily="50" charset="-128"/>
                <a:ea typeface="Meiryo UI" pitchFamily="50" charset="-128"/>
              </a:rPr>
              <a:t>Pch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)</a:t>
            </a:r>
          </a:p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抵抗情報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:2kΩ/um</a:t>
            </a:r>
            <a:r>
              <a:rPr lang="en-US" altLang="ja-JP" sz="1600" baseline="30000" dirty="0">
                <a:latin typeface="Meiryo UI" pitchFamily="50" charset="-128"/>
                <a:ea typeface="Meiryo UI" pitchFamily="50" charset="-128"/>
              </a:rPr>
              <a:t>2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　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or 350Ω/um</a:t>
            </a:r>
            <a:r>
              <a:rPr lang="en-US" altLang="ja-JP" sz="1600" baseline="30000" dirty="0">
                <a:latin typeface="Meiryo UI" pitchFamily="50" charset="-128"/>
                <a:ea typeface="Meiryo UI" pitchFamily="50" charset="-128"/>
              </a:rPr>
              <a:t>2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 ,0.08fF/um</a:t>
            </a:r>
            <a:r>
              <a:rPr lang="en-US" altLang="ja-JP" sz="1600" baseline="30000" dirty="0">
                <a:latin typeface="Meiryo UI" pitchFamily="50" charset="-128"/>
                <a:ea typeface="Meiryo UI" pitchFamily="50" charset="-128"/>
              </a:rPr>
              <a:t>2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 </a:t>
            </a:r>
            <a:endParaRPr lang="en-US" altLang="ja-JP" sz="1600" dirty="0"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キャパシター情報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:1.32ff/um</a:t>
            </a:r>
            <a:r>
              <a:rPr lang="en-US" altLang="ja-JP" sz="1600" baseline="30000" dirty="0">
                <a:latin typeface="Meiryo UI" pitchFamily="50" charset="-128"/>
                <a:ea typeface="Meiryo UI" pitchFamily="50" charset="-128"/>
              </a:rPr>
              <a:t>2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, 80Ω/um</a:t>
            </a:r>
            <a:r>
              <a:rPr lang="en-US" altLang="ja-JP" sz="1600" baseline="30000" dirty="0">
                <a:latin typeface="Meiryo UI" pitchFamily="50" charset="-128"/>
                <a:ea typeface="Meiryo UI" pitchFamily="50" charset="-128"/>
              </a:rPr>
              <a:t>2</a:t>
            </a:r>
            <a:endParaRPr lang="en-US" altLang="ja-JP" sz="1600" dirty="0"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納品物：</a:t>
            </a:r>
            <a:r>
              <a:rPr lang="en-US" altLang="ja-JP" sz="1600" dirty="0" err="1">
                <a:latin typeface="Meiryo UI" pitchFamily="50" charset="-128"/>
                <a:ea typeface="Meiryo UI" pitchFamily="50" charset="-128"/>
              </a:rPr>
              <a:t>Xschem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のデータとシミュレーション報告書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(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フォーマットは、自由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)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及びデータシート</a:t>
            </a:r>
            <a:endParaRPr lang="en-US" altLang="ja-JP" sz="1600" dirty="0"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納期：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10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月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31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日</a:t>
            </a:r>
            <a:endParaRPr lang="en-US" altLang="ja-JP" sz="1600" dirty="0"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担当者：野田さん、古川さん</a:t>
            </a:r>
            <a:endParaRPr lang="en-US" altLang="ja-JP" sz="16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958045" y="2718018"/>
            <a:ext cx="691276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入力・出力信号情報</a:t>
            </a:r>
            <a:endParaRPr lang="en-US" altLang="ja-JP" sz="1400" dirty="0">
              <a:latin typeface="Meiryo UI" pitchFamily="50" charset="-128"/>
              <a:ea typeface="Meiryo UI" pitchFamily="50" charset="-128"/>
            </a:endParaRP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VDD:3.3V±10%</a:t>
            </a:r>
            <a:r>
              <a:rPr lang="ja-JP" altLang="en-US" sz="1400" dirty="0" err="1">
                <a:latin typeface="Meiryo UI" pitchFamily="50" charset="-128"/>
                <a:ea typeface="Meiryo UI" pitchFamily="50" charset="-128"/>
              </a:rPr>
              <a:t>、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VSS:0V</a:t>
            </a: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VREFH:VDD</a:t>
            </a:r>
            <a:r>
              <a:rPr lang="ja-JP" altLang="en-US" sz="1400" dirty="0" err="1">
                <a:latin typeface="Meiryo UI" pitchFamily="50" charset="-128"/>
                <a:ea typeface="Meiryo UI" pitchFamily="50" charset="-128"/>
              </a:rPr>
              <a:t>、</a:t>
            </a:r>
            <a:r>
              <a:rPr lang="en-US" altLang="ja-JP" sz="1400" dirty="0" err="1">
                <a:latin typeface="Meiryo UI" pitchFamily="50" charset="-128"/>
                <a:ea typeface="Meiryo UI" pitchFamily="50" charset="-128"/>
              </a:rPr>
              <a:t>Vrefl:VSS</a:t>
            </a:r>
            <a:r>
              <a:rPr lang="ja-JP" altLang="en-US" sz="1400" dirty="0" err="1">
                <a:latin typeface="Meiryo UI" pitchFamily="50" charset="-128"/>
                <a:ea typeface="Meiryo UI" pitchFamily="50" charset="-128"/>
              </a:rPr>
              <a:t>、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出力範囲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:VSS+0.7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～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VDD-0.7</a:t>
            </a: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DIN[11:0]:VIL=VDD*0.2, VIH=VDD*0.8, </a:t>
            </a:r>
            <a:r>
              <a:rPr lang="en-US" altLang="ja-JP" sz="1400" dirty="0" err="1">
                <a:latin typeface="Meiryo UI" pitchFamily="50" charset="-128"/>
                <a:ea typeface="Meiryo UI" pitchFamily="50" charset="-128"/>
              </a:rPr>
              <a:t>trise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=</a:t>
            </a:r>
            <a:r>
              <a:rPr lang="en-US" altLang="ja-JP" sz="1400" dirty="0" err="1">
                <a:latin typeface="Meiryo UI" pitchFamily="50" charset="-128"/>
                <a:ea typeface="Meiryo UI" pitchFamily="50" charset="-128"/>
              </a:rPr>
              <a:t>tfall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=1ns</a:t>
            </a: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DACO=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  <a:sym typeface="Wingdings" pitchFamily="2" charset="2"/>
              </a:rPr>
              <a:t>(</a:t>
            </a:r>
            <a:r>
              <a:rPr lang="en-US" altLang="ja-JP" sz="1400" dirty="0" err="1">
                <a:latin typeface="Meiryo UI" pitchFamily="50" charset="-128"/>
                <a:ea typeface="Meiryo UI" pitchFamily="50" charset="-128"/>
              </a:rPr>
              <a:t>Vrefh-Vrefl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)/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4096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 x din(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バイナリ値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)</a:t>
            </a: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PD:PD=VIL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でパワーダウンモード</a:t>
            </a:r>
            <a:endParaRPr lang="en-US" altLang="ja-JP" sz="1400" dirty="0">
              <a:latin typeface="Meiryo UI" pitchFamily="50" charset="-128"/>
              <a:ea typeface="Meiryo UI" pitchFamily="50" charset="-128"/>
            </a:endParaRPr>
          </a:p>
          <a:p>
            <a:r>
              <a:rPr lang="en-US" altLang="ja-JP" sz="1400" dirty="0" err="1">
                <a:latin typeface="Meiryo UI" pitchFamily="50" charset="-128"/>
                <a:ea typeface="Meiryo UI" pitchFamily="50" charset="-128"/>
              </a:rPr>
              <a:t>Iref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:±10uA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のバイアス電流源</a:t>
            </a:r>
            <a:endParaRPr lang="en-US" altLang="ja-JP" sz="1400" dirty="0">
              <a:latin typeface="Meiryo UI" pitchFamily="50" charset="-128"/>
              <a:ea typeface="Meiryo UI" pitchFamily="50" charset="-128"/>
            </a:endParaRP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VOUT:DACO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をボルテージフォロアアンプを経由した出力</a:t>
            </a:r>
            <a:endParaRPr lang="en-US" altLang="ja-JP" sz="1400" dirty="0">
              <a:latin typeface="Meiryo UI" pitchFamily="50" charset="-128"/>
              <a:ea typeface="Meiryo UI" pitchFamily="50" charset="-128"/>
            </a:endParaRP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din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⇒</a:t>
            </a:r>
            <a:r>
              <a:rPr lang="en-US" altLang="ja-JP" sz="1400" dirty="0" err="1">
                <a:latin typeface="Meiryo UI" pitchFamily="50" charset="-128"/>
                <a:ea typeface="Meiryo UI" pitchFamily="50" charset="-128"/>
              </a:rPr>
              <a:t>dout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出力遅延時間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:90ns max</a:t>
            </a:r>
          </a:p>
          <a:p>
            <a:r>
              <a:rPr lang="en-US" altLang="ja-JP" sz="1400" dirty="0" err="1">
                <a:latin typeface="Meiryo UI" pitchFamily="50" charset="-128"/>
                <a:ea typeface="Meiryo UI" pitchFamily="50" charset="-128"/>
              </a:rPr>
              <a:t>vm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=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出力範囲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/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4096</a:t>
            </a: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【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タイムチャート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】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以下参照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2030053" y="5180230"/>
            <a:ext cx="1512168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din[12’h0000]</a:t>
            </a:r>
            <a:endParaRPr lang="ja-JP" altLang="en-US" sz="12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3542221" y="5180230"/>
            <a:ext cx="1512168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din[12’hf1ff]</a:t>
            </a:r>
            <a:endParaRPr lang="ja-JP" altLang="en-US" sz="12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5054389" y="5180230"/>
            <a:ext cx="1512168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din[12’hfff]</a:t>
            </a:r>
            <a:endParaRPr lang="ja-JP" altLang="en-US" sz="12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6566557" y="5180230"/>
            <a:ext cx="1512168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din[12’h0ff]</a:t>
            </a:r>
            <a:endParaRPr lang="ja-JP" altLang="en-US" sz="12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8078725" y="5180230"/>
            <a:ext cx="1512168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din[12’h111]</a:t>
            </a:r>
            <a:endParaRPr lang="ja-JP" altLang="en-US" sz="12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2678125" y="5612278"/>
            <a:ext cx="86409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dout</a:t>
            </a:r>
            <a:r>
              <a:rPr lang="en-US" altLang="ja-JP" sz="12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=0</a:t>
            </a:r>
            <a:endParaRPr lang="ja-JP" altLang="en-US" sz="12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4118285" y="5612278"/>
            <a:ext cx="936104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dout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=</a:t>
            </a:r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vm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*1ff</a:t>
            </a:r>
            <a:endParaRPr lang="ja-JP" altLang="en-US" sz="10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5486437" y="5612278"/>
            <a:ext cx="1080120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dout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=</a:t>
            </a:r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vm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*</a:t>
            </a:r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fff</a:t>
            </a:r>
            <a:endParaRPr lang="ja-JP" altLang="en-US" sz="10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6998605" y="5612278"/>
            <a:ext cx="1080120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dout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=</a:t>
            </a:r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vm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*0ff</a:t>
            </a:r>
            <a:endParaRPr lang="ja-JP" altLang="en-US" sz="10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5" name="正方形/長方形 14"/>
          <p:cNvSpPr/>
          <p:nvPr/>
        </p:nvSpPr>
        <p:spPr>
          <a:xfrm>
            <a:off x="8510773" y="5612278"/>
            <a:ext cx="1080120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dout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=</a:t>
            </a:r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vm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*111</a:t>
            </a:r>
            <a:endParaRPr lang="ja-JP" altLang="en-US" sz="10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2030053" y="5612278"/>
            <a:ext cx="648072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不定</a:t>
            </a:r>
          </a:p>
        </p:txBody>
      </p:sp>
      <p:sp>
        <p:nvSpPr>
          <p:cNvPr id="17" name="正方形/長方形 16"/>
          <p:cNvSpPr/>
          <p:nvPr/>
        </p:nvSpPr>
        <p:spPr>
          <a:xfrm>
            <a:off x="3542221" y="5612278"/>
            <a:ext cx="576064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不定</a:t>
            </a:r>
          </a:p>
        </p:txBody>
      </p:sp>
      <p:sp>
        <p:nvSpPr>
          <p:cNvPr id="18" name="正方形/長方形 17"/>
          <p:cNvSpPr/>
          <p:nvPr/>
        </p:nvSpPr>
        <p:spPr>
          <a:xfrm>
            <a:off x="5054389" y="5612278"/>
            <a:ext cx="432048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不定</a:t>
            </a:r>
          </a:p>
        </p:txBody>
      </p:sp>
      <p:sp>
        <p:nvSpPr>
          <p:cNvPr id="19" name="正方形/長方形 18"/>
          <p:cNvSpPr/>
          <p:nvPr/>
        </p:nvSpPr>
        <p:spPr>
          <a:xfrm>
            <a:off x="6566557" y="5612278"/>
            <a:ext cx="432048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不定</a:t>
            </a:r>
          </a:p>
        </p:txBody>
      </p:sp>
      <p:sp>
        <p:nvSpPr>
          <p:cNvPr id="20" name="正方形/長方形 19"/>
          <p:cNvSpPr/>
          <p:nvPr/>
        </p:nvSpPr>
        <p:spPr>
          <a:xfrm>
            <a:off x="8078725" y="5612278"/>
            <a:ext cx="432048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不定</a:t>
            </a:r>
          </a:p>
        </p:txBody>
      </p:sp>
      <p:cxnSp>
        <p:nvCxnSpPr>
          <p:cNvPr id="22" name="直線コネクタ 21"/>
          <p:cNvCxnSpPr/>
          <p:nvPr/>
        </p:nvCxnSpPr>
        <p:spPr>
          <a:xfrm>
            <a:off x="2030053" y="5468262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/>
          <p:cNvCxnSpPr/>
          <p:nvPr/>
        </p:nvCxnSpPr>
        <p:spPr>
          <a:xfrm>
            <a:off x="3542221" y="5468262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/>
          <p:cNvCxnSpPr/>
          <p:nvPr/>
        </p:nvCxnSpPr>
        <p:spPr>
          <a:xfrm>
            <a:off x="5054389" y="5468262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/>
          <p:cNvCxnSpPr/>
          <p:nvPr/>
        </p:nvCxnSpPr>
        <p:spPr>
          <a:xfrm>
            <a:off x="2030053" y="6188342"/>
            <a:ext cx="1512168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/>
          <p:cNvCxnSpPr/>
          <p:nvPr/>
        </p:nvCxnSpPr>
        <p:spPr>
          <a:xfrm>
            <a:off x="3542221" y="6188342"/>
            <a:ext cx="1512168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/>
          <p:cNvSpPr txBox="1"/>
          <p:nvPr/>
        </p:nvSpPr>
        <p:spPr>
          <a:xfrm>
            <a:off x="2822142" y="6199376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100ns</a:t>
            </a:r>
            <a:endParaRPr lang="ja-JP" altLang="en-US" sz="1200" dirty="0"/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4349002" y="6188343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100ns</a:t>
            </a:r>
            <a:endParaRPr lang="ja-JP" altLang="en-US" sz="1200" dirty="0"/>
          </a:p>
        </p:txBody>
      </p:sp>
      <p:cxnSp>
        <p:nvCxnSpPr>
          <p:cNvPr id="30" name="直線コネクタ 29"/>
          <p:cNvCxnSpPr/>
          <p:nvPr/>
        </p:nvCxnSpPr>
        <p:spPr>
          <a:xfrm>
            <a:off x="6566557" y="5468262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/>
          <p:cNvCxnSpPr/>
          <p:nvPr/>
        </p:nvCxnSpPr>
        <p:spPr>
          <a:xfrm>
            <a:off x="8078725" y="5468262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/>
          <p:cNvCxnSpPr/>
          <p:nvPr/>
        </p:nvCxnSpPr>
        <p:spPr>
          <a:xfrm>
            <a:off x="9590893" y="5468262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/>
          <p:cNvCxnSpPr/>
          <p:nvPr/>
        </p:nvCxnSpPr>
        <p:spPr>
          <a:xfrm>
            <a:off x="5054389" y="6188342"/>
            <a:ext cx="1512168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/>
          <p:cNvCxnSpPr/>
          <p:nvPr/>
        </p:nvCxnSpPr>
        <p:spPr>
          <a:xfrm>
            <a:off x="6566557" y="6188342"/>
            <a:ext cx="1512168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矢印コネクタ 34"/>
          <p:cNvCxnSpPr/>
          <p:nvPr/>
        </p:nvCxnSpPr>
        <p:spPr>
          <a:xfrm>
            <a:off x="8078725" y="6188342"/>
            <a:ext cx="1512168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/>
          <p:cNvSpPr txBox="1"/>
          <p:nvPr/>
        </p:nvSpPr>
        <p:spPr>
          <a:xfrm>
            <a:off x="5861170" y="6188343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100ns</a:t>
            </a:r>
            <a:endParaRPr lang="ja-JP" altLang="en-US" sz="1200" dirty="0"/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7301330" y="6188343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100ns</a:t>
            </a:r>
            <a:endParaRPr lang="ja-JP" altLang="en-US" sz="1200" dirty="0"/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8885506" y="6188343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100ns</a:t>
            </a:r>
            <a:endParaRPr lang="ja-JP" altLang="en-US" sz="1200" dirty="0"/>
          </a:p>
        </p:txBody>
      </p:sp>
      <p:cxnSp>
        <p:nvCxnSpPr>
          <p:cNvPr id="42" name="直線コネクタ 41"/>
          <p:cNvCxnSpPr/>
          <p:nvPr/>
        </p:nvCxnSpPr>
        <p:spPr>
          <a:xfrm>
            <a:off x="2678125" y="5900310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/>
          <p:cNvCxnSpPr/>
          <p:nvPr/>
        </p:nvCxnSpPr>
        <p:spPr>
          <a:xfrm>
            <a:off x="4118285" y="5900310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/>
          <p:cNvCxnSpPr/>
          <p:nvPr/>
        </p:nvCxnSpPr>
        <p:spPr>
          <a:xfrm>
            <a:off x="5486437" y="5900310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/>
          <p:cNvCxnSpPr/>
          <p:nvPr/>
        </p:nvCxnSpPr>
        <p:spPr>
          <a:xfrm>
            <a:off x="8510773" y="5900310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49"/>
          <p:cNvCxnSpPr/>
          <p:nvPr/>
        </p:nvCxnSpPr>
        <p:spPr>
          <a:xfrm>
            <a:off x="2030053" y="6044326"/>
            <a:ext cx="648072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テキスト ボックス 51"/>
          <p:cNvSpPr txBox="1"/>
          <p:nvPr/>
        </p:nvSpPr>
        <p:spPr>
          <a:xfrm>
            <a:off x="2692817" y="5900311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&lt;90ns</a:t>
            </a:r>
            <a:endParaRPr lang="ja-JP" altLang="en-US" sz="1200" dirty="0"/>
          </a:p>
        </p:txBody>
      </p:sp>
      <p:cxnSp>
        <p:nvCxnSpPr>
          <p:cNvPr id="54" name="直線矢印コネクタ 53"/>
          <p:cNvCxnSpPr/>
          <p:nvPr/>
        </p:nvCxnSpPr>
        <p:spPr>
          <a:xfrm>
            <a:off x="3543825" y="6044326"/>
            <a:ext cx="574461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/>
          <p:cNvSpPr txBox="1"/>
          <p:nvPr/>
        </p:nvSpPr>
        <p:spPr>
          <a:xfrm>
            <a:off x="4206588" y="5900311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&lt;90ns</a:t>
            </a:r>
            <a:endParaRPr lang="ja-JP" altLang="en-US" sz="1200" dirty="0"/>
          </a:p>
        </p:txBody>
      </p:sp>
      <p:cxnSp>
        <p:nvCxnSpPr>
          <p:cNvPr id="57" name="直線矢印コネクタ 56"/>
          <p:cNvCxnSpPr/>
          <p:nvPr/>
        </p:nvCxnSpPr>
        <p:spPr>
          <a:xfrm>
            <a:off x="5057595" y="6044326"/>
            <a:ext cx="428842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/>
          <p:cNvSpPr txBox="1"/>
          <p:nvPr/>
        </p:nvSpPr>
        <p:spPr>
          <a:xfrm>
            <a:off x="5720359" y="5900311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&lt;90ns</a:t>
            </a:r>
            <a:endParaRPr lang="ja-JP" altLang="en-US" sz="1200" dirty="0"/>
          </a:p>
        </p:txBody>
      </p:sp>
      <p:cxnSp>
        <p:nvCxnSpPr>
          <p:cNvPr id="59" name="直線コネクタ 58"/>
          <p:cNvCxnSpPr/>
          <p:nvPr/>
        </p:nvCxnSpPr>
        <p:spPr>
          <a:xfrm>
            <a:off x="7219438" y="5900310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59"/>
          <p:cNvCxnSpPr/>
          <p:nvPr/>
        </p:nvCxnSpPr>
        <p:spPr>
          <a:xfrm>
            <a:off x="6571366" y="6044326"/>
            <a:ext cx="648072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テキスト ボックス 60"/>
          <p:cNvSpPr txBox="1"/>
          <p:nvPr/>
        </p:nvSpPr>
        <p:spPr>
          <a:xfrm>
            <a:off x="7234130" y="5900311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&lt;90ns</a:t>
            </a:r>
            <a:endParaRPr lang="ja-JP" altLang="en-US" sz="1200" dirty="0"/>
          </a:p>
        </p:txBody>
      </p:sp>
      <p:cxnSp>
        <p:nvCxnSpPr>
          <p:cNvPr id="63" name="直線矢印コネクタ 62"/>
          <p:cNvCxnSpPr/>
          <p:nvPr/>
        </p:nvCxnSpPr>
        <p:spPr>
          <a:xfrm>
            <a:off x="8085137" y="6044326"/>
            <a:ext cx="425636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テキスト ボックス 63"/>
          <p:cNvSpPr txBox="1"/>
          <p:nvPr/>
        </p:nvSpPr>
        <p:spPr>
          <a:xfrm>
            <a:off x="8815100" y="5900311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&lt;90ns</a:t>
            </a:r>
            <a:endParaRPr lang="ja-JP" altLang="en-US" sz="1200" dirty="0"/>
          </a:p>
        </p:txBody>
      </p:sp>
      <p:sp>
        <p:nvSpPr>
          <p:cNvPr id="51" name="スライド番号プレースホルダ 50"/>
          <p:cNvSpPr>
            <a:spLocks noGrp="1"/>
          </p:cNvSpPr>
          <p:nvPr>
            <p:ph type="sldNum" sz="quarter" idx="12"/>
          </p:nvPr>
        </p:nvSpPr>
        <p:spPr>
          <a:xfrm>
            <a:off x="11025554" y="6356350"/>
            <a:ext cx="328246" cy="365125"/>
          </a:xfrm>
        </p:spPr>
        <p:txBody>
          <a:bodyPr/>
          <a:lstStyle/>
          <a:p>
            <a:fld id="{97239D7E-0E06-4B1F-8112-F8D22E8141D5}" type="slidenum">
              <a:rPr kumimoji="1" lang="ja-JP" altLang="en-US" smtClean="0"/>
              <a:pPr/>
              <a:t>2</a:t>
            </a:fld>
            <a:endParaRPr kumimoji="1" lang="ja-JP" altLang="en-US"/>
          </a:p>
        </p:txBody>
      </p:sp>
      <p:sp>
        <p:nvSpPr>
          <p:cNvPr id="53" name="テキスト ボックス 52"/>
          <p:cNvSpPr txBox="1"/>
          <p:nvPr/>
        </p:nvSpPr>
        <p:spPr>
          <a:xfrm>
            <a:off x="7162121" y="2441019"/>
            <a:ext cx="30718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9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月の課題からの変更点</a:t>
            </a:r>
            <a:endParaRPr lang="en-US" altLang="ja-JP" sz="1400" dirty="0">
              <a:solidFill>
                <a:srgbClr val="FF0000"/>
              </a:solidFill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・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DAC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のビット数（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14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→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12)</a:t>
            </a:r>
          </a:p>
          <a:p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・出力範囲（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Rail to Rail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→緩和）</a:t>
            </a:r>
            <a:endParaRPr lang="en-US" altLang="ja-JP" sz="1400" dirty="0">
              <a:solidFill>
                <a:srgbClr val="FF0000"/>
              </a:solidFill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・変換速度の最悪値</a:t>
            </a:r>
            <a:endParaRPr lang="en-US" altLang="ja-JP" sz="1400" dirty="0">
              <a:solidFill>
                <a:srgbClr val="FF0000"/>
              </a:solidFill>
              <a:latin typeface="Meiryo UI" pitchFamily="50" charset="-128"/>
              <a:ea typeface="Meiryo UI" pitchFamily="50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524000" y="0"/>
            <a:ext cx="21788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データシートのフォーマット</a:t>
            </a:r>
          </a:p>
        </p:txBody>
      </p:sp>
      <p:graphicFrame>
        <p:nvGraphicFramePr>
          <p:cNvPr id="5" name="表 4"/>
          <p:cNvGraphicFramePr>
            <a:graphicFrameLocks noGrp="1"/>
          </p:cNvGraphicFramePr>
          <p:nvPr/>
        </p:nvGraphicFramePr>
        <p:xfrm>
          <a:off x="1919536" y="285728"/>
          <a:ext cx="8424936" cy="3313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29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5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1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0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21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21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0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3317">
                <a:tc gridSpan="8"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DAC</a:t>
                      </a:r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部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(VDD=3.3V, VSS=0V)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317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項目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Symbol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条件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目標値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typ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ワースト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単位</a:t>
                      </a:r>
                      <a:endParaRPr kumimoji="1" lang="en-US" altLang="ja-JP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084"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INL</a:t>
                      </a:r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エラー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INL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データ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=x000-</a:t>
                      </a:r>
                      <a:r>
                        <a:rPr kumimoji="1" lang="en-US" altLang="ja-JP" sz="1200" b="0" dirty="0">
                          <a:solidFill>
                            <a:srgbClr val="FF0000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xfff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Meiryo UI" pitchFamily="50" charset="-128"/>
                          <a:ea typeface="Meiryo UI" pitchFamily="50" charset="-128"/>
                        </a:rPr>
                        <a:t>±2</a:t>
                      </a:r>
                      <a:endParaRPr kumimoji="1" lang="ja-JP" altLang="en-US" sz="1200" dirty="0"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LSB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084"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DNL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DNL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データ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=x000-</a:t>
                      </a:r>
                      <a:r>
                        <a:rPr kumimoji="1" lang="en-US" altLang="ja-JP" sz="1200" b="0" dirty="0">
                          <a:solidFill>
                            <a:srgbClr val="FF0000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xfff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Meiryo UI" pitchFamily="50" charset="-128"/>
                          <a:ea typeface="Meiryo UI" pitchFamily="50" charset="-128"/>
                        </a:rPr>
                        <a:t>±1</a:t>
                      </a:r>
                      <a:endParaRPr kumimoji="1" lang="ja-JP" altLang="en-US" sz="1200" dirty="0"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LSB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084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オフセットエラー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Vos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VIN=</a:t>
                      </a:r>
                      <a:r>
                        <a:rPr kumimoji="1" lang="en-US" altLang="ja-JP" sz="1200" b="0" dirty="0">
                          <a:solidFill>
                            <a:srgbClr val="FF0000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x000</a:t>
                      </a:r>
                      <a:endParaRPr kumimoji="1" lang="ja-JP" altLang="en-US" sz="1200" b="0" dirty="0">
                        <a:solidFill>
                          <a:srgbClr val="FF0000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Meiryo UI" pitchFamily="50" charset="-128"/>
                          <a:ea typeface="Meiryo UI" pitchFamily="50" charset="-128"/>
                        </a:rPr>
                        <a:t>5</a:t>
                      </a:r>
                      <a:endParaRPr kumimoji="1" lang="ja-JP" altLang="en-US" sz="1200" dirty="0"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%of FSR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084"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Gain </a:t>
                      </a:r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エラー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gE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VIN=</a:t>
                      </a:r>
                      <a:r>
                        <a:rPr kumimoji="1" lang="en-US" altLang="ja-JP" sz="1200" b="0" dirty="0" err="1">
                          <a:solidFill>
                            <a:srgbClr val="FF0000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xfff</a:t>
                      </a:r>
                      <a:endParaRPr kumimoji="1" lang="ja-JP" altLang="en-US" sz="1200" b="0" dirty="0">
                        <a:solidFill>
                          <a:srgbClr val="FF0000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5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%of FSR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9084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消費電流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IDD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VIN=</a:t>
                      </a:r>
                      <a:r>
                        <a:rPr kumimoji="1" lang="en-US" altLang="ja-JP" sz="1200" b="0" dirty="0" err="1">
                          <a:solidFill>
                            <a:srgbClr val="FF0000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xfff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, PD=VIH, f=10MHz*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5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mA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9084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スタンバイ電流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IDDS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PD=VIL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100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uA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3317">
                <a:tc gridSpan="8"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ボルテージフォロワーアンプ部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(VDD=3.3V, VSS=0V)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3317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出力電圧範囲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VOUT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/>
                        <a:t>**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513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位相裕度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Φ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/>
                        <a:t>90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°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3513"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Slew Rate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SR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RL=1k,</a:t>
                      </a:r>
                      <a:r>
                        <a:rPr kumimoji="1" lang="en-US" altLang="ja-JP" sz="1200" b="0" baseline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 </a:t>
                      </a:r>
                      <a:r>
                        <a:rPr kumimoji="1" lang="en-US" altLang="ja-JP" sz="1200" b="0" baseline="0" dirty="0" err="1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Vout</a:t>
                      </a:r>
                      <a:r>
                        <a:rPr kumimoji="1" lang="en-US" altLang="ja-JP" sz="1200" b="0" baseline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=2VPP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/>
                        <a:t>20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V/us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3513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出力電流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IOUT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CL=1pF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/>
                        <a:t>1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err="1"/>
                        <a:t>mA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テキスト ボックス 5"/>
          <p:cNvSpPr txBox="1"/>
          <p:nvPr/>
        </p:nvSpPr>
        <p:spPr>
          <a:xfrm>
            <a:off x="1596009" y="3963719"/>
            <a:ext cx="9557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ブロック図</a:t>
            </a:r>
          </a:p>
        </p:txBody>
      </p:sp>
      <p:sp>
        <p:nvSpPr>
          <p:cNvPr id="7" name="台形 6"/>
          <p:cNvSpPr/>
          <p:nvPr/>
        </p:nvSpPr>
        <p:spPr>
          <a:xfrm>
            <a:off x="2927648" y="4638671"/>
            <a:ext cx="1008112" cy="792088"/>
          </a:xfrm>
          <a:prstGeom prst="trapezoid">
            <a:avLst/>
          </a:prstGeom>
          <a:noFill/>
          <a:ln>
            <a:solidFill>
              <a:schemeClr val="tx1"/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775520" y="4899824"/>
            <a:ext cx="936104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DIN[13:0]</a:t>
            </a:r>
            <a:endParaRPr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cxnSp>
        <p:nvCxnSpPr>
          <p:cNvPr id="10" name="直線矢印コネクタ 9"/>
          <p:cNvCxnSpPr>
            <a:stCxn id="8" idx="3"/>
            <a:endCxn id="7" idx="1"/>
          </p:cNvCxnSpPr>
          <p:nvPr/>
        </p:nvCxnSpPr>
        <p:spPr>
          <a:xfrm>
            <a:off x="2711625" y="5028509"/>
            <a:ext cx="315035" cy="6207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2639616" y="4179744"/>
            <a:ext cx="2232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Meiryo UI" pitchFamily="50" charset="-128"/>
                <a:ea typeface="Meiryo UI" pitchFamily="50" charset="-128"/>
              </a:rPr>
              <a:t>抵抗ラダー、キャパシタタイプ </a:t>
            </a:r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DAC</a:t>
            </a:r>
            <a:endParaRPr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3" name="二等辺三角形 12"/>
          <p:cNvSpPr/>
          <p:nvPr/>
        </p:nvSpPr>
        <p:spPr>
          <a:xfrm>
            <a:off x="4655840" y="4827815"/>
            <a:ext cx="1080120" cy="792088"/>
          </a:xfrm>
          <a:prstGeom prst="triangle">
            <a:avLst/>
          </a:prstGeom>
          <a:noFill/>
          <a:ln>
            <a:solidFill>
              <a:schemeClr val="tx1"/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2135560" y="5979944"/>
            <a:ext cx="504056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r"/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PD</a:t>
            </a:r>
          </a:p>
        </p:txBody>
      </p:sp>
      <p:cxnSp>
        <p:nvCxnSpPr>
          <p:cNvPr id="17" name="図形 16"/>
          <p:cNvCxnSpPr>
            <a:stCxn id="15" idx="3"/>
            <a:endCxn id="7" idx="2"/>
          </p:cNvCxnSpPr>
          <p:nvPr/>
        </p:nvCxnSpPr>
        <p:spPr>
          <a:xfrm flipV="1">
            <a:off x="2639616" y="5430760"/>
            <a:ext cx="792088" cy="677869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/>
          <p:cNvCxnSpPr>
            <a:stCxn id="7" idx="3"/>
          </p:cNvCxnSpPr>
          <p:nvPr/>
        </p:nvCxnSpPr>
        <p:spPr>
          <a:xfrm>
            <a:off x="3836750" y="5034715"/>
            <a:ext cx="963107" cy="912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/>
          <p:cNvCxnSpPr/>
          <p:nvPr/>
        </p:nvCxnSpPr>
        <p:spPr>
          <a:xfrm>
            <a:off x="5591944" y="5187855"/>
            <a:ext cx="10801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/>
          <p:cNvCxnSpPr/>
          <p:nvPr/>
        </p:nvCxnSpPr>
        <p:spPr>
          <a:xfrm>
            <a:off x="6096000" y="5187855"/>
            <a:ext cx="0" cy="7200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/>
          <p:cNvCxnSpPr/>
          <p:nvPr/>
        </p:nvCxnSpPr>
        <p:spPr>
          <a:xfrm flipH="1">
            <a:off x="4223792" y="5907935"/>
            <a:ext cx="18722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/>
          <p:cNvCxnSpPr/>
          <p:nvPr/>
        </p:nvCxnSpPr>
        <p:spPr>
          <a:xfrm flipV="1">
            <a:off x="4223792" y="5475887"/>
            <a:ext cx="0" cy="4320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/>
          <p:cNvCxnSpPr/>
          <p:nvPr/>
        </p:nvCxnSpPr>
        <p:spPr>
          <a:xfrm>
            <a:off x="4223792" y="5475887"/>
            <a:ext cx="576064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48"/>
          <p:cNvSpPr txBox="1"/>
          <p:nvPr/>
        </p:nvSpPr>
        <p:spPr>
          <a:xfrm>
            <a:off x="4799856" y="4901565"/>
            <a:ext cx="351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+</a:t>
            </a:r>
          </a:p>
          <a:p>
            <a:r>
              <a:rPr lang="en-US" altLang="ja-JP" dirty="0"/>
              <a:t>-</a:t>
            </a:r>
            <a:endParaRPr lang="ja-JP" altLang="en-US" dirty="0"/>
          </a:p>
        </p:txBody>
      </p:sp>
      <p:cxnSp>
        <p:nvCxnSpPr>
          <p:cNvPr id="55" name="直線コネクタ 54"/>
          <p:cNvCxnSpPr/>
          <p:nvPr/>
        </p:nvCxnSpPr>
        <p:spPr>
          <a:xfrm flipH="1">
            <a:off x="2639616" y="6411991"/>
            <a:ext cx="273630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/>
          <p:cNvCxnSpPr/>
          <p:nvPr/>
        </p:nvCxnSpPr>
        <p:spPr>
          <a:xfrm flipV="1">
            <a:off x="5375920" y="5403879"/>
            <a:ext cx="0" cy="100811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コネクタ 60"/>
          <p:cNvCxnSpPr/>
          <p:nvPr/>
        </p:nvCxnSpPr>
        <p:spPr>
          <a:xfrm flipH="1">
            <a:off x="3431704" y="6123959"/>
            <a:ext cx="158417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/>
          <p:cNvCxnSpPr/>
          <p:nvPr/>
        </p:nvCxnSpPr>
        <p:spPr>
          <a:xfrm flipV="1">
            <a:off x="5015880" y="5619903"/>
            <a:ext cx="0" cy="5040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テキスト ボックス 64"/>
          <p:cNvSpPr txBox="1"/>
          <p:nvPr/>
        </p:nvSpPr>
        <p:spPr>
          <a:xfrm>
            <a:off x="6744072" y="5043840"/>
            <a:ext cx="936104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VOUT</a:t>
            </a:r>
            <a:endParaRPr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66" name="テキスト ボックス 65"/>
          <p:cNvSpPr txBox="1"/>
          <p:nvPr/>
        </p:nvSpPr>
        <p:spPr>
          <a:xfrm>
            <a:off x="3863752" y="4755808"/>
            <a:ext cx="936104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DACO</a:t>
            </a:r>
            <a:endParaRPr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67" name="テキスト ボックス 66"/>
          <p:cNvSpPr txBox="1"/>
          <p:nvPr/>
        </p:nvSpPr>
        <p:spPr>
          <a:xfrm>
            <a:off x="4943872" y="4179744"/>
            <a:ext cx="2232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Meiryo UI" pitchFamily="50" charset="-128"/>
                <a:ea typeface="Meiryo UI" pitchFamily="50" charset="-128"/>
              </a:rPr>
              <a:t>ボルテージフォロワーアンプ</a:t>
            </a:r>
          </a:p>
        </p:txBody>
      </p:sp>
      <p:sp>
        <p:nvSpPr>
          <p:cNvPr id="27" name="スライド番号プレースホル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39D7E-0E06-4B1F-8112-F8D22E8141D5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1919536" y="3656058"/>
            <a:ext cx="43193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*:f=DIN</a:t>
            </a:r>
            <a:r>
              <a:rPr lang="ja-JP" altLang="en-US" sz="1200" dirty="0">
                <a:latin typeface="Meiryo UI" pitchFamily="50" charset="-128"/>
                <a:ea typeface="Meiryo UI" pitchFamily="50" charset="-128"/>
              </a:rPr>
              <a:t>のサイクル周波数</a:t>
            </a:r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, **:</a:t>
            </a:r>
            <a:r>
              <a:rPr lang="en-US" altLang="ja-JP" sz="12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 :VSS+0.7</a:t>
            </a:r>
            <a:r>
              <a:rPr lang="ja-JP" altLang="en-US" sz="12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～</a:t>
            </a:r>
            <a:r>
              <a:rPr lang="en-US" altLang="ja-JP" sz="12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VDD-0.7</a:t>
            </a:r>
            <a:endParaRPr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1703512" y="6165305"/>
            <a:ext cx="936104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r"/>
            <a:r>
              <a:rPr lang="en-US" altLang="ja-JP" sz="1200" dirty="0" err="1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IrefSink</a:t>
            </a:r>
            <a:endParaRPr lang="en-US" altLang="ja-JP" sz="1200" dirty="0">
              <a:solidFill>
                <a:srgbClr val="FF0000"/>
              </a:solidFill>
              <a:latin typeface="Meiryo UI" pitchFamily="50" charset="-128"/>
              <a:ea typeface="Meiryo UI" pitchFamily="50" charset="-128"/>
            </a:endParaRPr>
          </a:p>
          <a:p>
            <a:pPr algn="r"/>
            <a:r>
              <a:rPr lang="en-US" altLang="ja-JP" sz="1200" dirty="0" err="1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IrefSource</a:t>
            </a:r>
            <a:endParaRPr lang="en-US" altLang="ja-JP" sz="1200" dirty="0">
              <a:solidFill>
                <a:srgbClr val="FF0000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3719736" y="6309321"/>
            <a:ext cx="360040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r"/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/2</a:t>
            </a:r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7310446" y="3857628"/>
            <a:ext cx="30718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9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月の課題からの変更点</a:t>
            </a:r>
            <a:endParaRPr lang="en-US" altLang="ja-JP" sz="1400" dirty="0">
              <a:solidFill>
                <a:srgbClr val="FF0000"/>
              </a:solidFill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・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DAC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のビット数（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14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→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12)</a:t>
            </a:r>
          </a:p>
          <a:p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・出力範囲（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Rail to Rail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→緩和）</a:t>
            </a:r>
            <a:endParaRPr lang="en-US" altLang="ja-JP" sz="1400" dirty="0">
              <a:solidFill>
                <a:srgbClr val="FF0000"/>
              </a:solidFill>
              <a:latin typeface="Meiryo UI" pitchFamily="50" charset="-128"/>
              <a:ea typeface="Meiryo UI" pitchFamily="50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24FB66-3DB4-8219-32EB-B4D487DA8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453" y="209366"/>
            <a:ext cx="4727331" cy="943342"/>
          </a:xfrm>
        </p:spPr>
        <p:txBody>
          <a:bodyPr/>
          <a:lstStyle/>
          <a:p>
            <a:r>
              <a:rPr lang="en-US" altLang="ja-JP" dirty="0"/>
              <a:t>DAC</a:t>
            </a:r>
            <a:r>
              <a:rPr lang="ja-JP" altLang="en-US" dirty="0"/>
              <a:t>全体の回路図</a:t>
            </a:r>
            <a:endParaRPr kumimoji="1" lang="ja-JP" altLang="en-US" dirty="0"/>
          </a:p>
        </p:txBody>
      </p:sp>
      <p:pic>
        <p:nvPicPr>
          <p:cNvPr id="5" name="コンテンツ プレースホルダー 4" descr="ダイアグラム, 概略図&#10;&#10;AI 生成コンテンツは誤りを含む可能性があります。">
            <a:extLst>
              <a:ext uri="{FF2B5EF4-FFF2-40B4-BE49-F238E27FC236}">
                <a16:creationId xmlns:a16="http://schemas.microsoft.com/office/drawing/2014/main" id="{379B8E82-9F2D-1645-D6A5-0FCBB373F8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288" y="1152708"/>
            <a:ext cx="9061520" cy="5426141"/>
          </a:xfrm>
        </p:spPr>
      </p:pic>
    </p:spTree>
    <p:extLst>
      <p:ext uri="{BB962C8B-B14F-4D97-AF65-F5344CB8AC3E}">
        <p14:creationId xmlns:p14="http://schemas.microsoft.com/office/powerpoint/2010/main" val="50677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1699AC-0E27-CA6A-B213-8B3310F1A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078" y="246186"/>
            <a:ext cx="4797669" cy="923192"/>
          </a:xfrm>
        </p:spPr>
        <p:txBody>
          <a:bodyPr/>
          <a:lstStyle/>
          <a:p>
            <a:r>
              <a:rPr kumimoji="1" lang="ja-JP" altLang="en-US" dirty="0"/>
              <a:t>セレクタの回路図</a:t>
            </a:r>
          </a:p>
        </p:txBody>
      </p:sp>
      <p:pic>
        <p:nvPicPr>
          <p:cNvPr id="5" name="コンテンツ プレースホルダー 4" descr="ダイアグラム, 概略図&#10;&#10;AI 生成コンテンツは誤りを含む可能性があります。">
            <a:extLst>
              <a:ext uri="{FF2B5EF4-FFF2-40B4-BE49-F238E27FC236}">
                <a16:creationId xmlns:a16="http://schemas.microsoft.com/office/drawing/2014/main" id="{AE8A68D4-76C3-EC81-A568-EFD7561049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9755" y="1169378"/>
            <a:ext cx="6771962" cy="5277460"/>
          </a:xfrm>
        </p:spPr>
      </p:pic>
    </p:spTree>
    <p:extLst>
      <p:ext uri="{BB962C8B-B14F-4D97-AF65-F5344CB8AC3E}">
        <p14:creationId xmlns:p14="http://schemas.microsoft.com/office/powerpoint/2010/main" val="707187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1D0DF3-C01D-3AC3-A89A-32462CDBE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ボルテージフォロワ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705F96A-0645-2AA2-08B4-7344D474A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・出力範囲電圧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・位相余裕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・スルーレート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・出力電流</a:t>
            </a:r>
          </a:p>
        </p:txBody>
      </p:sp>
    </p:spTree>
    <p:extLst>
      <p:ext uri="{BB962C8B-B14F-4D97-AF65-F5344CB8AC3E}">
        <p14:creationId xmlns:p14="http://schemas.microsoft.com/office/powerpoint/2010/main" val="656897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4A11DA-277E-E1BB-2A35-E2F2055A9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74" y="180778"/>
            <a:ext cx="7628672" cy="830337"/>
          </a:xfrm>
        </p:spPr>
        <p:txBody>
          <a:bodyPr>
            <a:normAutofit/>
          </a:bodyPr>
          <a:lstStyle/>
          <a:p>
            <a:r>
              <a:rPr lang="ja-JP" altLang="en-US" dirty="0"/>
              <a:t>ボルテージフォロワの回路図</a:t>
            </a:r>
            <a:endParaRPr kumimoji="1" lang="ja-JP" altLang="en-US" dirty="0"/>
          </a:p>
        </p:txBody>
      </p:sp>
      <p:pic>
        <p:nvPicPr>
          <p:cNvPr id="11" name="コンテンツ プレースホルダー 10">
            <a:extLst>
              <a:ext uri="{FF2B5EF4-FFF2-40B4-BE49-F238E27FC236}">
                <a16:creationId xmlns:a16="http://schemas.microsoft.com/office/drawing/2014/main" id="{7EB8F479-CDEB-231D-6E21-422045CA79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185" y="1333255"/>
            <a:ext cx="7086846" cy="5102713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C66B3B0-F721-88EF-76E3-3CFF1A8DECE1}"/>
              </a:ext>
            </a:extLst>
          </p:cNvPr>
          <p:cNvSpPr txBox="1"/>
          <p:nvPr/>
        </p:nvSpPr>
        <p:spPr>
          <a:xfrm>
            <a:off x="7719646" y="1243786"/>
            <a:ext cx="4308231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位相補償容量：</a:t>
            </a:r>
            <a:r>
              <a:rPr kumimoji="1" lang="en-US" altLang="ja-JP" sz="2400" dirty="0"/>
              <a:t>140f[F]</a:t>
            </a:r>
          </a:p>
          <a:p>
            <a:endParaRPr lang="en-US" altLang="ja-JP" sz="1600" dirty="0"/>
          </a:p>
          <a:p>
            <a:r>
              <a:rPr kumimoji="1" lang="ja-JP" altLang="en-US" sz="2400" dirty="0"/>
              <a:t>オペアンプ部の</a:t>
            </a:r>
            <a:r>
              <a:rPr kumimoji="1" lang="en-US" altLang="ja-JP" sz="2400" dirty="0"/>
              <a:t>MOS</a:t>
            </a:r>
            <a:r>
              <a:rPr kumimoji="1" lang="ja-JP" altLang="en-US" sz="2400" dirty="0"/>
              <a:t>の寸法</a:t>
            </a:r>
            <a:endParaRPr kumimoji="1" lang="en-US" altLang="ja-JP" sz="2400" dirty="0"/>
          </a:p>
          <a:p>
            <a:r>
              <a:rPr lang="en-US" altLang="ja-JP" sz="2400" dirty="0"/>
              <a:t>nMOS</a:t>
            </a:r>
            <a:r>
              <a:rPr lang="ja-JP" altLang="en-US" sz="2400" dirty="0"/>
              <a:t>：</a:t>
            </a:r>
            <a:r>
              <a:rPr lang="en-US" altLang="ja-JP" sz="2400" dirty="0"/>
              <a:t>W=10um</a:t>
            </a:r>
          </a:p>
          <a:p>
            <a:r>
              <a:rPr kumimoji="1" lang="en-US" altLang="ja-JP" sz="2400" dirty="0"/>
              <a:t>pMOS</a:t>
            </a:r>
            <a:r>
              <a:rPr lang="ja-JP" altLang="en-US" sz="2400" dirty="0"/>
              <a:t>：</a:t>
            </a:r>
            <a:r>
              <a:rPr lang="en-US" altLang="ja-JP" sz="2400" dirty="0"/>
              <a:t>W=20um</a:t>
            </a:r>
          </a:p>
          <a:p>
            <a:r>
              <a:rPr kumimoji="1" lang="en-US" altLang="ja-JP" sz="2400" dirty="0"/>
              <a:t>L(</a:t>
            </a:r>
            <a:r>
              <a:rPr kumimoji="1" lang="ja-JP" altLang="en-US" sz="2400" dirty="0"/>
              <a:t>共通</a:t>
            </a:r>
            <a:r>
              <a:rPr kumimoji="1" lang="en-US" altLang="ja-JP" sz="2400" dirty="0"/>
              <a:t>) = 1um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B9AB830-FC7D-A9E7-F05B-97995115FD8F}"/>
              </a:ext>
            </a:extLst>
          </p:cNvPr>
          <p:cNvSpPr/>
          <p:nvPr/>
        </p:nvSpPr>
        <p:spPr>
          <a:xfrm>
            <a:off x="4756638" y="2269060"/>
            <a:ext cx="606670" cy="31470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2DB3EAF-D3BD-FF0B-B8D5-5D29F23C691B}"/>
              </a:ext>
            </a:extLst>
          </p:cNvPr>
          <p:cNvSpPr txBox="1"/>
          <p:nvPr/>
        </p:nvSpPr>
        <p:spPr>
          <a:xfrm>
            <a:off x="4660246" y="1807395"/>
            <a:ext cx="958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solidFill>
                  <a:srgbClr val="FF0000"/>
                </a:solidFill>
              </a:rPr>
              <a:t>m=6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95E0580-8E94-2192-B332-2A55D63E0340}"/>
              </a:ext>
            </a:extLst>
          </p:cNvPr>
          <p:cNvSpPr txBox="1"/>
          <p:nvPr/>
        </p:nvSpPr>
        <p:spPr>
          <a:xfrm>
            <a:off x="7719646" y="3661671"/>
            <a:ext cx="41851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ソース接地回路の</a:t>
            </a:r>
            <a:r>
              <a:rPr kumimoji="1" lang="en-US" altLang="ja-JP" sz="2400" dirty="0"/>
              <a:t>MOS</a:t>
            </a:r>
            <a:r>
              <a:rPr lang="ja-JP" altLang="en-US" sz="2400" dirty="0"/>
              <a:t>は</a:t>
            </a:r>
            <a:r>
              <a:rPr kumimoji="1" lang="en-US" altLang="ja-JP" sz="2400" dirty="0">
                <a:solidFill>
                  <a:srgbClr val="FF0000"/>
                </a:solidFill>
              </a:rPr>
              <a:t>m=6</a:t>
            </a:r>
            <a:endParaRPr lang="en-US" altLang="ja-JP" sz="2400" dirty="0">
              <a:solidFill>
                <a:srgbClr val="FF0000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35A9C0F-FC6D-E9C6-191F-37FD9E4D4C5E}"/>
              </a:ext>
            </a:extLst>
          </p:cNvPr>
          <p:cNvSpPr txBox="1"/>
          <p:nvPr/>
        </p:nvSpPr>
        <p:spPr>
          <a:xfrm>
            <a:off x="7719646" y="4725339"/>
            <a:ext cx="39037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PD</a:t>
            </a:r>
            <a:r>
              <a:rPr lang="ja-JP" altLang="en-US" sz="2400" dirty="0"/>
              <a:t>部</a:t>
            </a:r>
            <a:r>
              <a:rPr kumimoji="1" lang="ja-JP" altLang="en-US" sz="2400" dirty="0"/>
              <a:t>の</a:t>
            </a:r>
            <a:r>
              <a:rPr kumimoji="1" lang="en-US" altLang="ja-JP" sz="2400" dirty="0"/>
              <a:t>MOS</a:t>
            </a:r>
            <a:r>
              <a:rPr kumimoji="1" lang="ja-JP" altLang="en-US" sz="2400" dirty="0"/>
              <a:t>の寸法</a:t>
            </a:r>
            <a:endParaRPr kumimoji="1" lang="en-US" altLang="ja-JP" sz="2400" dirty="0"/>
          </a:p>
          <a:p>
            <a:r>
              <a:rPr kumimoji="1" lang="en-US" altLang="ja-JP" sz="2400" dirty="0"/>
              <a:t>W(</a:t>
            </a:r>
            <a:r>
              <a:rPr kumimoji="1" lang="ja-JP" altLang="en-US" sz="2400" dirty="0"/>
              <a:t>共通</a:t>
            </a:r>
            <a:r>
              <a:rPr kumimoji="1" lang="en-US" altLang="ja-JP" sz="2400" dirty="0"/>
              <a:t>) = 3.5um</a:t>
            </a:r>
          </a:p>
          <a:p>
            <a:r>
              <a:rPr lang="en-US" altLang="ja-JP" sz="2400" dirty="0"/>
              <a:t>L(</a:t>
            </a:r>
            <a:r>
              <a:rPr lang="ja-JP" altLang="en-US" sz="2400" dirty="0"/>
              <a:t>共通</a:t>
            </a:r>
            <a:r>
              <a:rPr lang="en-US" altLang="ja-JP" sz="2400" dirty="0"/>
              <a:t>) = 0.35um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34065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AD9091-F332-A47B-3D7A-F3C0FD8DD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422" y="219808"/>
            <a:ext cx="3561063" cy="796669"/>
          </a:xfrm>
        </p:spPr>
        <p:txBody>
          <a:bodyPr/>
          <a:lstStyle/>
          <a:p>
            <a:r>
              <a:rPr kumimoji="1" lang="ja-JP" altLang="en-US" dirty="0"/>
              <a:t>出力電圧範囲</a:t>
            </a:r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8EBCC621-7157-C425-5853-0AC7D5E361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4099" y="1218833"/>
            <a:ext cx="10937264" cy="4420333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63922AF-A117-3BB7-1026-D7071B897738}"/>
              </a:ext>
            </a:extLst>
          </p:cNvPr>
          <p:cNvSpPr txBox="1"/>
          <p:nvPr/>
        </p:nvSpPr>
        <p:spPr>
          <a:xfrm>
            <a:off x="3710355" y="5841522"/>
            <a:ext cx="51698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出力電圧範囲</a:t>
            </a:r>
            <a:r>
              <a:rPr lang="ja-JP" altLang="en-US" sz="2000" dirty="0"/>
              <a:t>：</a:t>
            </a:r>
            <a:r>
              <a:rPr lang="en-US" altLang="ja-JP" sz="2000" dirty="0"/>
              <a:t>0.33V</a:t>
            </a:r>
            <a:r>
              <a:rPr lang="ja-JP" altLang="en-US" sz="2000" dirty="0"/>
              <a:t>～</a:t>
            </a:r>
            <a:r>
              <a:rPr lang="en-US" altLang="ja-JP" sz="2000" dirty="0"/>
              <a:t>3.26V</a:t>
            </a:r>
          </a:p>
          <a:p>
            <a:r>
              <a:rPr kumimoji="1" lang="en-US" altLang="ja-JP" sz="2000" dirty="0"/>
              <a:t>(</a:t>
            </a:r>
            <a:r>
              <a:rPr lang="ja-JP" altLang="en-US" sz="2000" dirty="0"/>
              <a:t>理論値との誤差の許容範囲が</a:t>
            </a:r>
            <a:r>
              <a:rPr lang="en-US" altLang="ja-JP" sz="2000" dirty="0"/>
              <a:t>1%</a:t>
            </a:r>
            <a:r>
              <a:rPr lang="ja-JP" altLang="en-US" sz="2000" dirty="0"/>
              <a:t>とすると</a:t>
            </a:r>
            <a:r>
              <a:rPr kumimoji="1" lang="en-US" altLang="ja-JP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55374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09C599-8F51-8C4A-E220-1A5B5EBE1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990" y="197860"/>
            <a:ext cx="3570949" cy="757815"/>
          </a:xfrm>
        </p:spPr>
        <p:txBody>
          <a:bodyPr/>
          <a:lstStyle/>
          <a:p>
            <a:r>
              <a:rPr kumimoji="1" lang="ja-JP" altLang="en-US" dirty="0"/>
              <a:t>出力電圧</a:t>
            </a:r>
            <a:r>
              <a:rPr lang="ja-JP" altLang="en-US" dirty="0"/>
              <a:t>範囲</a:t>
            </a:r>
            <a:endParaRPr kumimoji="1" lang="ja-JP" altLang="en-US" dirty="0"/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4A461741-3571-069C-D54D-FE8136ED6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113" y="4606666"/>
            <a:ext cx="10730523" cy="20534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ja-JP" dirty="0"/>
              <a:t>DAC</a:t>
            </a:r>
            <a:r>
              <a:rPr kumimoji="1" lang="ja-JP" altLang="en-US" dirty="0"/>
              <a:t>の仕様を満たす範囲には</a:t>
            </a:r>
            <a:r>
              <a:rPr lang="ja-JP" altLang="en-US" dirty="0"/>
              <a:t>収まらなかった</a:t>
            </a:r>
            <a:endParaRPr kumimoji="1" lang="en-US" altLang="ja-JP" dirty="0"/>
          </a:p>
          <a:p>
            <a:pPr marL="0" indent="0">
              <a:buNone/>
            </a:pPr>
            <a:r>
              <a:rPr lang="en-US" altLang="ja-JP" dirty="0"/>
              <a:t>(0.7V</a:t>
            </a:r>
            <a:r>
              <a:rPr lang="ja-JP" altLang="en-US" dirty="0"/>
              <a:t>～</a:t>
            </a:r>
            <a:r>
              <a:rPr lang="en-US" altLang="ja-JP" dirty="0"/>
              <a:t>2.6V</a:t>
            </a:r>
            <a:r>
              <a:rPr lang="ja-JP" altLang="en-US" dirty="0"/>
              <a:t>の間で、傾き</a:t>
            </a:r>
            <a:r>
              <a:rPr lang="en-US" altLang="ja-JP" dirty="0"/>
              <a:t>1</a:t>
            </a:r>
            <a:r>
              <a:rPr lang="ja-JP" altLang="en-US" dirty="0"/>
              <a:t>の理想直線から</a:t>
            </a:r>
            <a:r>
              <a:rPr kumimoji="1" lang="en-US" altLang="ja-JP" dirty="0"/>
              <a:t>±1/2LSB(0.232mV)</a:t>
            </a:r>
            <a:r>
              <a:rPr kumimoji="1" lang="ja-JP" altLang="en-US" dirty="0"/>
              <a:t>に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収まるようにする</a:t>
            </a:r>
            <a:r>
              <a:rPr kumimoji="1" lang="en-US" altLang="ja-JP" dirty="0"/>
              <a:t>)</a:t>
            </a:r>
          </a:p>
          <a:p>
            <a:pPr marL="0" indent="0">
              <a:buNone/>
            </a:pPr>
            <a:r>
              <a:rPr kumimoji="1" lang="en-US" altLang="ja-JP" dirty="0"/>
              <a:t>VF</a:t>
            </a:r>
            <a:r>
              <a:rPr kumimoji="1" lang="ja-JP" altLang="en-US" dirty="0"/>
              <a:t>として動作はするが、</a:t>
            </a:r>
            <a:r>
              <a:rPr kumimoji="1" lang="en-US" altLang="ja-JP" dirty="0"/>
              <a:t>DAC</a:t>
            </a:r>
            <a:r>
              <a:rPr kumimoji="1" lang="ja-JP" altLang="en-US" dirty="0"/>
              <a:t>本体の出力部との誤差が</a:t>
            </a:r>
            <a:r>
              <a:rPr lang="ja-JP" altLang="en-US" dirty="0"/>
              <a:t>大きくなる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7D65315-CC0D-8BC1-08D0-7127307AE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88" y="955675"/>
            <a:ext cx="2311029" cy="3254095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A43D0691-A2CF-E235-1A39-AB7C4C0C1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817" y="955675"/>
            <a:ext cx="2309688" cy="3254094"/>
          </a:xfrm>
          <a:prstGeom prst="rect">
            <a:avLst/>
          </a:prstGeom>
        </p:spPr>
      </p:pic>
      <p:pic>
        <p:nvPicPr>
          <p:cNvPr id="3" name="コンテンツ プレースホルダー 5">
            <a:extLst>
              <a:ext uri="{FF2B5EF4-FFF2-40B4-BE49-F238E27FC236}">
                <a16:creationId xmlns:a16="http://schemas.microsoft.com/office/drawing/2014/main" id="{144AFE99-336D-0CA1-BC57-E2CD2D967C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096"/>
          <a:stretch>
            <a:fillRect/>
          </a:stretch>
        </p:blipFill>
        <p:spPr>
          <a:xfrm>
            <a:off x="6333212" y="551000"/>
            <a:ext cx="4261701" cy="3835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577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844273-25DE-8D10-D09B-1660B0250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109" y="237298"/>
            <a:ext cx="2674976" cy="862426"/>
          </a:xfrm>
        </p:spPr>
        <p:txBody>
          <a:bodyPr/>
          <a:lstStyle/>
          <a:p>
            <a:r>
              <a:rPr kumimoji="1" lang="ja-JP" altLang="en-US" dirty="0"/>
              <a:t>位相余裕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6B17AB5-BEC2-9B42-C6D8-0C39AD717831}"/>
              </a:ext>
            </a:extLst>
          </p:cNvPr>
          <p:cNvSpPr txBox="1"/>
          <p:nvPr/>
        </p:nvSpPr>
        <p:spPr>
          <a:xfrm>
            <a:off x="1484334" y="5874707"/>
            <a:ext cx="33695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位相補償キャパシタ：</a:t>
            </a:r>
            <a:r>
              <a:rPr kumimoji="1" lang="en-US" altLang="ja-JP" dirty="0"/>
              <a:t>140f[F]</a:t>
            </a:r>
          </a:p>
          <a:p>
            <a:r>
              <a:rPr kumimoji="1" lang="ja-JP" altLang="en-US" dirty="0"/>
              <a:t>位相余裕：</a:t>
            </a:r>
            <a:r>
              <a:rPr kumimoji="1" lang="en-US" altLang="ja-JP" dirty="0"/>
              <a:t>45°</a:t>
            </a:r>
            <a:r>
              <a:rPr kumimoji="1" lang="ja-JP" altLang="en-US" dirty="0"/>
              <a:t>程度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32A58B3-82AE-EE3C-E2B2-D920E19D99C6}"/>
              </a:ext>
            </a:extLst>
          </p:cNvPr>
          <p:cNvSpPr txBox="1"/>
          <p:nvPr/>
        </p:nvSpPr>
        <p:spPr>
          <a:xfrm>
            <a:off x="7559458" y="5874706"/>
            <a:ext cx="33695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位相補償キャパシタ：</a:t>
            </a:r>
            <a:r>
              <a:rPr kumimoji="1" lang="en-US" altLang="ja-JP" dirty="0"/>
              <a:t>256f[F]</a:t>
            </a:r>
          </a:p>
          <a:p>
            <a:r>
              <a:rPr kumimoji="1" lang="ja-JP" altLang="en-US" dirty="0"/>
              <a:t>位相余裕：</a:t>
            </a:r>
            <a:r>
              <a:rPr lang="en-US" altLang="ja-JP" dirty="0"/>
              <a:t>56</a:t>
            </a:r>
            <a:r>
              <a:rPr kumimoji="1" lang="en-US" altLang="ja-JP" dirty="0"/>
              <a:t>°</a:t>
            </a:r>
            <a:r>
              <a:rPr kumimoji="1" lang="ja-JP" altLang="en-US" dirty="0"/>
              <a:t>程度</a:t>
            </a:r>
          </a:p>
        </p:txBody>
      </p:sp>
      <p:pic>
        <p:nvPicPr>
          <p:cNvPr id="16" name="コンテンツ プレースホルダー 15">
            <a:extLst>
              <a:ext uri="{FF2B5EF4-FFF2-40B4-BE49-F238E27FC236}">
                <a16:creationId xmlns:a16="http://schemas.microsoft.com/office/drawing/2014/main" id="{F5A64CE7-D8E2-878B-574D-E30D428E0D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202" y="1253331"/>
            <a:ext cx="5385764" cy="4351338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EC08CB3F-A2FC-888F-9C1E-5542C5B7B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993" y="1253331"/>
            <a:ext cx="528952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900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C7589D-3CCD-B039-24E0-22CF3A0E0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637" y="307731"/>
            <a:ext cx="3697071" cy="764465"/>
          </a:xfrm>
        </p:spPr>
        <p:txBody>
          <a:bodyPr/>
          <a:lstStyle/>
          <a:p>
            <a:r>
              <a:rPr kumimoji="1" lang="ja-JP" altLang="en-US" dirty="0"/>
              <a:t>スルーレート</a:t>
            </a:r>
          </a:p>
        </p:txBody>
      </p:sp>
      <p:pic>
        <p:nvPicPr>
          <p:cNvPr id="11" name="コンテンツ プレースホルダー 10">
            <a:extLst>
              <a:ext uri="{FF2B5EF4-FFF2-40B4-BE49-F238E27FC236}">
                <a16:creationId xmlns:a16="http://schemas.microsoft.com/office/drawing/2014/main" id="{29FAC7B5-876B-D1BF-1C18-30E217E2A2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637" y="1362342"/>
            <a:ext cx="5804567" cy="5064835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A76864A-B952-FA52-26B9-C6DA7587AABA}"/>
              </a:ext>
            </a:extLst>
          </p:cNvPr>
          <p:cNvSpPr txBox="1"/>
          <p:nvPr/>
        </p:nvSpPr>
        <p:spPr>
          <a:xfrm>
            <a:off x="6337064" y="360987"/>
            <a:ext cx="5108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位相補償容量：</a:t>
            </a:r>
            <a:r>
              <a:rPr kumimoji="1" lang="en-US" altLang="ja-JP" sz="2400" dirty="0"/>
              <a:t>140f[F]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6B2DAC9C-D221-9B12-61B9-657A58242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064" y="1015580"/>
            <a:ext cx="5645158" cy="117506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71D497AC-FD09-3AD8-EA82-AA307F514387}"/>
                  </a:ext>
                </a:extLst>
              </p:cNvPr>
              <p:cNvSpPr txBox="1"/>
              <p:nvPr/>
            </p:nvSpPr>
            <p:spPr>
              <a:xfrm>
                <a:off x="6463019" y="2686125"/>
                <a:ext cx="5393245" cy="11351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800" dirty="0"/>
                  <a:t>立ち上がり</a:t>
                </a:r>
                <a:endParaRPr kumimoji="1" lang="en-US" altLang="ja-JP" sz="2800" dirty="0"/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2.97−0.33</m:t>
                        </m:r>
                      </m:num>
                      <m:den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0.0419</m:t>
                        </m:r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𝑢𝑠</m:t>
                        </m:r>
                      </m:den>
                    </m:f>
                  </m:oMath>
                </a14:m>
                <a:r>
                  <a:rPr kumimoji="1" lang="ja-JP" altLang="en-US" sz="2800" dirty="0"/>
                  <a:t> </a:t>
                </a:r>
                <a:r>
                  <a:rPr kumimoji="1" lang="en-US" altLang="ja-JP" sz="2800" dirty="0"/>
                  <a:t>= 63.01[V/us]</a:t>
                </a:r>
              </a:p>
            </p:txBody>
          </p:sp>
        </mc:Choice>
        <mc:Fallback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71D497AC-FD09-3AD8-EA82-AA307F5143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3019" y="2686125"/>
                <a:ext cx="5393245" cy="1135183"/>
              </a:xfrm>
              <a:prstGeom prst="rect">
                <a:avLst/>
              </a:prstGeom>
              <a:blipFill>
                <a:blip r:embed="rId4"/>
                <a:stretch>
                  <a:fillRect l="-2260" t="-5376" b="-752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10E430A-7586-0820-911B-D737A5E9224A}"/>
                  </a:ext>
                </a:extLst>
              </p:cNvPr>
              <p:cNvSpPr txBox="1"/>
              <p:nvPr/>
            </p:nvSpPr>
            <p:spPr>
              <a:xfrm>
                <a:off x="6463020" y="4316789"/>
                <a:ext cx="5393245" cy="11351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800" dirty="0"/>
                  <a:t>立ち下がり</a:t>
                </a:r>
                <a:endParaRPr kumimoji="1" lang="en-US" altLang="ja-JP" sz="28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2.97−0.33</m:t>
                        </m:r>
                      </m:num>
                      <m:den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0.0575</m:t>
                        </m:r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𝑢𝑠</m:t>
                        </m:r>
                      </m:den>
                    </m:f>
                  </m:oMath>
                </a14:m>
                <a:r>
                  <a:rPr kumimoji="1" lang="ja-JP" altLang="en-US" sz="2800" dirty="0"/>
                  <a:t> </a:t>
                </a:r>
                <a:r>
                  <a:rPr kumimoji="1" lang="en-US" altLang="ja-JP" sz="2800" dirty="0"/>
                  <a:t>= 45.91[V/us]</a:t>
                </a:r>
              </a:p>
            </p:txBody>
          </p:sp>
        </mc:Choice>
        <mc:Fallback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10E430A-7586-0820-911B-D737A5E92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3020" y="4316789"/>
                <a:ext cx="5393245" cy="1135183"/>
              </a:xfrm>
              <a:prstGeom prst="rect">
                <a:avLst/>
              </a:prstGeom>
              <a:blipFill>
                <a:blip r:embed="rId5"/>
                <a:stretch>
                  <a:fillRect l="-2260" t="-4839" b="-752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1796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315A23-16BC-D850-EFDC-661039A29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623" y="277586"/>
            <a:ext cx="2573215" cy="881796"/>
          </a:xfrm>
        </p:spPr>
        <p:txBody>
          <a:bodyPr/>
          <a:lstStyle/>
          <a:p>
            <a:r>
              <a:rPr kumimoji="1" lang="ja-JP" altLang="en-US" dirty="0"/>
              <a:t>出力電流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64F3B9C-72F1-F903-9E48-3DC21DC3C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063" y="2353609"/>
            <a:ext cx="5600700" cy="2570083"/>
          </a:xfrm>
        </p:spPr>
        <p:txBody>
          <a:bodyPr/>
          <a:lstStyle/>
          <a:p>
            <a:pPr marL="0" indent="0">
              <a:buNone/>
            </a:pPr>
            <a:r>
              <a:rPr lang="ja-JP" altLang="en-US" dirty="0"/>
              <a:t>下記のパルス波を入力したときの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電流値を見る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(</a:t>
            </a:r>
            <a:r>
              <a:rPr lang="ja-JP" altLang="en-US" dirty="0"/>
              <a:t>立ち上がり・立ち下がり時間は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共に</a:t>
            </a:r>
            <a:r>
              <a:rPr lang="en-US" altLang="ja-JP" dirty="0"/>
              <a:t>1ns)</a:t>
            </a:r>
          </a:p>
          <a:p>
            <a:pPr marL="0" indent="0">
              <a:buNone/>
            </a:pPr>
            <a:r>
              <a:rPr lang="ja-JP" altLang="en-US" dirty="0"/>
              <a:t>負荷容量：</a:t>
            </a:r>
            <a:r>
              <a:rPr lang="en-US" altLang="ja-JP" dirty="0"/>
              <a:t>1p[F]</a:t>
            </a:r>
            <a:endParaRPr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9D1B228-4AB1-F27F-5AB0-2493C54DA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99" y="1410105"/>
            <a:ext cx="5477639" cy="470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809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709D87-D085-5FA4-F0CF-A2E7410F3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630" y="215045"/>
            <a:ext cx="2582008" cy="1009651"/>
          </a:xfrm>
        </p:spPr>
        <p:txBody>
          <a:bodyPr/>
          <a:lstStyle/>
          <a:p>
            <a:r>
              <a:rPr kumimoji="1" lang="ja-JP" altLang="en-US"/>
              <a:t>出力電流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3FF2B22-A4B1-1F48-C000-BA031CD264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691" y="1224696"/>
            <a:ext cx="5968241" cy="5239362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8C372EF0-E904-E699-B436-9804F0F86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104" y="1224696"/>
            <a:ext cx="5229266" cy="16702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B69F331-82D7-F613-0149-ADA20CC69BA9}"/>
              </a:ext>
            </a:extLst>
          </p:cNvPr>
          <p:cNvSpPr txBox="1"/>
          <p:nvPr/>
        </p:nvSpPr>
        <p:spPr>
          <a:xfrm>
            <a:off x="6346181" y="3429000"/>
            <a:ext cx="56904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立ち上がり時のピーク電流：</a:t>
            </a:r>
            <a:r>
              <a:rPr kumimoji="1" lang="en-US" altLang="ja-JP" sz="2400" dirty="0"/>
              <a:t>64.42[</a:t>
            </a:r>
            <a:r>
              <a:rPr kumimoji="1" lang="en-US" altLang="ja-JP" sz="2400" dirty="0" err="1"/>
              <a:t>uA</a:t>
            </a:r>
            <a:r>
              <a:rPr kumimoji="1" lang="en-US" altLang="ja-JP" sz="2400" dirty="0"/>
              <a:t>]</a:t>
            </a:r>
          </a:p>
          <a:p>
            <a:r>
              <a:rPr lang="ja-JP" altLang="en-US" sz="2400" dirty="0"/>
              <a:t>立ち下がり時のピーク電流：</a:t>
            </a:r>
            <a:r>
              <a:rPr lang="en-US" altLang="ja-JP" sz="2400" dirty="0"/>
              <a:t>-47.60[</a:t>
            </a:r>
            <a:r>
              <a:rPr lang="en-US" altLang="ja-JP" sz="2400" dirty="0" err="1"/>
              <a:t>uA</a:t>
            </a:r>
            <a:r>
              <a:rPr lang="en-US" altLang="ja-JP" sz="2400" dirty="0"/>
              <a:t>]</a:t>
            </a:r>
            <a:r>
              <a:rPr lang="ja-JP" altLang="en-US" sz="2400" dirty="0"/>
              <a:t>　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87330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5C4F27-C703-B761-BCB6-FEEE77411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640" y="224570"/>
            <a:ext cx="5329241" cy="1463554"/>
          </a:xfrm>
        </p:spPr>
        <p:txBody>
          <a:bodyPr>
            <a:normAutofit/>
          </a:bodyPr>
          <a:lstStyle/>
          <a:p>
            <a:r>
              <a:rPr kumimoji="1" lang="en-US" altLang="ja-JP" dirty="0"/>
              <a:t>RDAC</a:t>
            </a:r>
            <a:r>
              <a:rPr kumimoji="1" lang="ja-JP" altLang="en-US" dirty="0"/>
              <a:t>部</a:t>
            </a:r>
            <a:r>
              <a:rPr kumimoji="1" lang="en-US" altLang="ja-JP" dirty="0"/>
              <a:t>+</a:t>
            </a:r>
            <a:br>
              <a:rPr kumimoji="1" lang="en-US" altLang="ja-JP" dirty="0"/>
            </a:br>
            <a:r>
              <a:rPr kumimoji="1" lang="ja-JP" altLang="en-US" dirty="0"/>
              <a:t>ボルテージフォロワ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59EC070-23A6-051A-7904-B7909975BC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31990" y="224570"/>
            <a:ext cx="6450074" cy="6527922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F8BA962-B611-B07A-952A-36ECA2D9B138}"/>
              </a:ext>
            </a:extLst>
          </p:cNvPr>
          <p:cNvSpPr/>
          <p:nvPr/>
        </p:nvSpPr>
        <p:spPr>
          <a:xfrm>
            <a:off x="5502881" y="1424354"/>
            <a:ext cx="2638796" cy="485335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C32B8E6-BC76-8100-1C88-10D6DD68C3B1}"/>
              </a:ext>
            </a:extLst>
          </p:cNvPr>
          <p:cNvSpPr/>
          <p:nvPr/>
        </p:nvSpPr>
        <p:spPr>
          <a:xfrm>
            <a:off x="9956734" y="1503485"/>
            <a:ext cx="1608993" cy="615461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A034990-621E-D701-165A-7DDF5E16A1C8}"/>
              </a:ext>
            </a:extLst>
          </p:cNvPr>
          <p:cNvSpPr txBox="1"/>
          <p:nvPr/>
        </p:nvSpPr>
        <p:spPr>
          <a:xfrm>
            <a:off x="173640" y="1987061"/>
            <a:ext cx="46019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赤枠：</a:t>
            </a:r>
            <a:r>
              <a:rPr kumimoji="1" lang="en-US" altLang="ja-JP" sz="2800" dirty="0"/>
              <a:t>12bitRDAC</a:t>
            </a:r>
          </a:p>
          <a:p>
            <a:r>
              <a:rPr lang="ja-JP" altLang="en-US" sz="2800" dirty="0"/>
              <a:t>青枠：ボルテージフォロワ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70714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280180-6C9D-A5FE-8F4D-4DB5AC68F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115" y="215044"/>
            <a:ext cx="8877300" cy="844061"/>
          </a:xfrm>
        </p:spPr>
        <p:txBody>
          <a:bodyPr/>
          <a:lstStyle/>
          <a:p>
            <a:r>
              <a:rPr kumimoji="1" lang="en-US" altLang="ja-JP" dirty="0"/>
              <a:t>RDAC+VF</a:t>
            </a:r>
            <a:r>
              <a:rPr kumimoji="1" lang="ja-JP" altLang="en-US" dirty="0"/>
              <a:t>のシミュレーション結果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CB210A2-C3D6-0C18-6F87-09C2ED8CCE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4143" y="1176804"/>
            <a:ext cx="10515600" cy="4295211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4466BC8-F9E5-299C-DA65-161B76AD790D}"/>
              </a:ext>
            </a:extLst>
          </p:cNvPr>
          <p:cNvSpPr txBox="1"/>
          <p:nvPr/>
        </p:nvSpPr>
        <p:spPr>
          <a:xfrm>
            <a:off x="518867" y="5681196"/>
            <a:ext cx="111542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前回の報告よりは</a:t>
            </a:r>
            <a:r>
              <a:rPr kumimoji="1" lang="en-US" altLang="ja-JP" sz="2400" dirty="0"/>
              <a:t>VF</a:t>
            </a:r>
            <a:r>
              <a:rPr lang="ja-JP" altLang="en-US" sz="2400" dirty="0"/>
              <a:t>のスルーレートもあがり、</a:t>
            </a:r>
            <a:r>
              <a:rPr lang="en-US" altLang="ja-JP" sz="2400" dirty="0"/>
              <a:t>DAC</a:t>
            </a:r>
            <a:r>
              <a:rPr lang="ja-JP" altLang="en-US" sz="2400" dirty="0"/>
              <a:t>部に追尾するようになった</a:t>
            </a:r>
            <a:endParaRPr lang="en-US" altLang="ja-JP" sz="2400" dirty="0"/>
          </a:p>
          <a:p>
            <a:r>
              <a:rPr lang="ja-JP" altLang="en-US" sz="2400" dirty="0"/>
              <a:t>後段のサンプルホールド回路のサンプリングのウィンドウ幅の規定が必要か？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893373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6CE5EC-88BF-B502-CBC9-78025E51E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191781"/>
            <a:ext cx="4753708" cy="820250"/>
          </a:xfrm>
        </p:spPr>
        <p:txBody>
          <a:bodyPr/>
          <a:lstStyle/>
          <a:p>
            <a:r>
              <a:rPr kumimoji="1" lang="ja-JP" altLang="en-US" dirty="0"/>
              <a:t>オフセットエラー</a:t>
            </a:r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92FA3359-0CB0-9167-782F-B4786EA104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8346" y="1012031"/>
            <a:ext cx="9791700" cy="3947103"/>
          </a:xfrm>
          <a:prstGeom prst="rect">
            <a:avLst/>
          </a:prstGeom>
        </p:spPr>
      </p:pic>
      <p:sp>
        <p:nvSpPr>
          <p:cNvPr id="4" name="タイトル 1">
            <a:extLst>
              <a:ext uri="{FF2B5EF4-FFF2-40B4-BE49-F238E27FC236}">
                <a16:creationId xmlns:a16="http://schemas.microsoft.com/office/drawing/2014/main" id="{A861BF67-F2D1-9E50-ECE4-CE76A33AF7FC}"/>
              </a:ext>
            </a:extLst>
          </p:cNvPr>
          <p:cNvSpPr txBox="1">
            <a:spLocks/>
          </p:cNvSpPr>
          <p:nvPr/>
        </p:nvSpPr>
        <p:spPr>
          <a:xfrm>
            <a:off x="9419492" y="275277"/>
            <a:ext cx="1755531" cy="4844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400" dirty="0"/>
              <a:t>VIN=0x000</a:t>
            </a:r>
            <a:endParaRPr lang="ja-JP" altLang="en-US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5DD2EEE-AEA2-5635-224F-3C3E3B457BDA}"/>
              </a:ext>
            </a:extLst>
          </p:cNvPr>
          <p:cNvSpPr txBox="1"/>
          <p:nvPr/>
        </p:nvSpPr>
        <p:spPr>
          <a:xfrm>
            <a:off x="1951892" y="5108485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DAC</a:t>
            </a:r>
            <a:r>
              <a:rPr kumimoji="1" lang="ja-JP" altLang="en-US" sz="2000" dirty="0"/>
              <a:t>部 平均値：</a:t>
            </a:r>
            <a:r>
              <a:rPr kumimoji="1" lang="en-US" altLang="ja-JP" sz="2000" dirty="0"/>
              <a:t>2.100[</a:t>
            </a:r>
            <a:r>
              <a:rPr kumimoji="1" lang="en-US" altLang="ja-JP" sz="2000" dirty="0" err="1"/>
              <a:t>nV</a:t>
            </a:r>
            <a:r>
              <a:rPr kumimoji="1" lang="en-US" altLang="ja-JP" sz="2000" dirty="0"/>
              <a:t>]</a:t>
            </a:r>
            <a:endParaRPr kumimoji="1" lang="ja-JP" altLang="en-US" sz="20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7E92B49-7FFE-32FB-DBA4-42A65FB5F09D}"/>
              </a:ext>
            </a:extLst>
          </p:cNvPr>
          <p:cNvSpPr txBox="1"/>
          <p:nvPr/>
        </p:nvSpPr>
        <p:spPr>
          <a:xfrm>
            <a:off x="7447085" y="5127013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dirty="0"/>
              <a:t>VF</a:t>
            </a:r>
            <a:r>
              <a:rPr kumimoji="1" lang="ja-JP" altLang="en-US" sz="2000" dirty="0"/>
              <a:t>部 平均値：</a:t>
            </a:r>
            <a:r>
              <a:rPr kumimoji="1" lang="en-US" altLang="ja-JP" sz="2000" dirty="0"/>
              <a:t>22.49[</a:t>
            </a:r>
            <a:r>
              <a:rPr kumimoji="1" lang="en-US" altLang="ja-JP" sz="2000" dirty="0" err="1"/>
              <a:t>nV</a:t>
            </a:r>
            <a:r>
              <a:rPr kumimoji="1" lang="en-US" altLang="ja-JP" sz="2000" dirty="0"/>
              <a:t>]</a:t>
            </a:r>
            <a:endParaRPr kumimoji="1" lang="ja-JP" altLang="en-US" sz="20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D5DF7B92-CFE7-3A02-A196-B5E47F74F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53" y="5779384"/>
            <a:ext cx="4420217" cy="7621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D019072-E421-7B03-0AF0-DBDCF9C27B23}"/>
              </a:ext>
            </a:extLst>
          </p:cNvPr>
          <p:cNvSpPr txBox="1"/>
          <p:nvPr/>
        </p:nvSpPr>
        <p:spPr>
          <a:xfrm>
            <a:off x="5152292" y="5779384"/>
            <a:ext cx="63744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誤差：</a:t>
            </a:r>
            <a:r>
              <a:rPr lang="en-US" altLang="ja-JP" sz="2000" dirty="0"/>
              <a:t>0.00000021% (DAC</a:t>
            </a:r>
            <a:r>
              <a:rPr lang="ja-JP" altLang="en-US" sz="2000" dirty="0"/>
              <a:t>部</a:t>
            </a:r>
            <a:r>
              <a:rPr lang="en-US" altLang="ja-JP" sz="2000" dirty="0"/>
              <a:t>) (</a:t>
            </a:r>
            <a:r>
              <a:rPr lang="ja-JP" altLang="en-US" sz="2000" dirty="0"/>
              <a:t>ほぼ</a:t>
            </a:r>
            <a:r>
              <a:rPr lang="en-US" altLang="ja-JP" sz="2000" dirty="0"/>
              <a:t>0%)</a:t>
            </a:r>
          </a:p>
          <a:p>
            <a:r>
              <a:rPr lang="ja-JP" altLang="en-US" sz="2000" dirty="0"/>
              <a:t>　　　</a:t>
            </a:r>
            <a:r>
              <a:rPr lang="en-US" altLang="ja-JP" sz="2000" dirty="0"/>
              <a:t>0.00000224% (VF</a:t>
            </a:r>
            <a:r>
              <a:rPr lang="ja-JP" altLang="en-US" sz="2000" dirty="0"/>
              <a:t>部</a:t>
            </a:r>
            <a:r>
              <a:rPr lang="en-US" altLang="ja-JP" sz="2000" dirty="0"/>
              <a:t>) (</a:t>
            </a:r>
            <a:r>
              <a:rPr lang="ja-JP" altLang="en-US" sz="2000" dirty="0"/>
              <a:t>ほぼ</a:t>
            </a:r>
            <a:r>
              <a:rPr lang="en-US" altLang="ja-JP" sz="2000" dirty="0"/>
              <a:t>0%)</a:t>
            </a:r>
          </a:p>
        </p:txBody>
      </p:sp>
    </p:spTree>
    <p:extLst>
      <p:ext uri="{BB962C8B-B14F-4D97-AF65-F5344CB8AC3E}">
        <p14:creationId xmlns:p14="http://schemas.microsoft.com/office/powerpoint/2010/main" val="532801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C18608-7900-F088-75AB-48FAE285F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323" y="136158"/>
            <a:ext cx="3900854" cy="837834"/>
          </a:xfrm>
        </p:spPr>
        <p:txBody>
          <a:bodyPr/>
          <a:lstStyle/>
          <a:p>
            <a:r>
              <a:rPr kumimoji="1" lang="ja-JP" altLang="en-US" dirty="0"/>
              <a:t>ゲインエラー</a:t>
            </a:r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92F65D52-0D6B-7B87-9BA3-875F8E804E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9053" y="968988"/>
            <a:ext cx="9625184" cy="4021260"/>
          </a:xfrm>
          <a:prstGeom prst="rect">
            <a:avLst/>
          </a:prstGeom>
        </p:spPr>
      </p:pic>
      <p:sp>
        <p:nvSpPr>
          <p:cNvPr id="4" name="タイトル 1">
            <a:extLst>
              <a:ext uri="{FF2B5EF4-FFF2-40B4-BE49-F238E27FC236}">
                <a16:creationId xmlns:a16="http://schemas.microsoft.com/office/drawing/2014/main" id="{E83978CC-CF08-F0B0-699B-DE1628333157}"/>
              </a:ext>
            </a:extLst>
          </p:cNvPr>
          <p:cNvSpPr txBox="1">
            <a:spLocks/>
          </p:cNvSpPr>
          <p:nvPr/>
        </p:nvSpPr>
        <p:spPr>
          <a:xfrm>
            <a:off x="9598269" y="262120"/>
            <a:ext cx="1755531" cy="4844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400" dirty="0"/>
              <a:t>VIN=0xfff</a:t>
            </a:r>
            <a:endParaRPr lang="ja-JP" altLang="en-US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43BD2AD-723F-B793-AC84-E12A38B89187}"/>
              </a:ext>
            </a:extLst>
          </p:cNvPr>
          <p:cNvSpPr txBox="1"/>
          <p:nvPr/>
        </p:nvSpPr>
        <p:spPr>
          <a:xfrm>
            <a:off x="1846384" y="5092171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DAC</a:t>
            </a:r>
            <a:r>
              <a:rPr kumimoji="1" lang="ja-JP" altLang="en-US" sz="2000" dirty="0"/>
              <a:t>部 平均値：</a:t>
            </a:r>
            <a:r>
              <a:rPr lang="en-US" altLang="ja-JP" sz="2000" dirty="0"/>
              <a:t>3.291</a:t>
            </a:r>
            <a:r>
              <a:rPr kumimoji="1" lang="en-US" altLang="ja-JP" sz="2000" dirty="0"/>
              <a:t>[V]</a:t>
            </a:r>
            <a:endParaRPr kumimoji="1" lang="ja-JP" altLang="en-US" sz="20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AE33925-13A3-0686-B50E-8B4E9D9FC19E}"/>
              </a:ext>
            </a:extLst>
          </p:cNvPr>
          <p:cNvSpPr txBox="1"/>
          <p:nvPr/>
        </p:nvSpPr>
        <p:spPr>
          <a:xfrm>
            <a:off x="7341577" y="5110699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dirty="0"/>
              <a:t>VF</a:t>
            </a:r>
            <a:r>
              <a:rPr kumimoji="1" lang="ja-JP" altLang="en-US" sz="2000" dirty="0"/>
              <a:t>部 平均値：</a:t>
            </a:r>
            <a:r>
              <a:rPr lang="en-US" altLang="ja-JP" sz="2000" dirty="0"/>
              <a:t>3.267</a:t>
            </a:r>
            <a:r>
              <a:rPr kumimoji="1" lang="en-US" altLang="ja-JP" sz="2000" dirty="0"/>
              <a:t>[V]</a:t>
            </a:r>
            <a:endParaRPr kumimoji="1" lang="ja-JP" altLang="en-US" sz="20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800DC441-6838-1F21-AFCB-BA17D29BFF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40323" y="5699711"/>
            <a:ext cx="4305901" cy="8954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1A7739F-272B-09D0-5E1C-C098E3AA0F68}"/>
              </a:ext>
            </a:extLst>
          </p:cNvPr>
          <p:cNvSpPr txBox="1"/>
          <p:nvPr/>
        </p:nvSpPr>
        <p:spPr>
          <a:xfrm>
            <a:off x="5301761" y="5731949"/>
            <a:ext cx="6374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/>
              <a:t>誤差：</a:t>
            </a:r>
            <a:r>
              <a:rPr lang="en-US" altLang="ja-JP" sz="2400" dirty="0"/>
              <a:t>0.273% (DAC</a:t>
            </a:r>
            <a:r>
              <a:rPr lang="ja-JP" altLang="en-US" sz="2400" dirty="0"/>
              <a:t>部</a:t>
            </a:r>
            <a:r>
              <a:rPr lang="en-US" altLang="ja-JP" sz="2400" dirty="0"/>
              <a:t>)</a:t>
            </a:r>
          </a:p>
          <a:p>
            <a:r>
              <a:rPr lang="ja-JP" altLang="en-US" sz="2400" dirty="0"/>
              <a:t>　　　</a:t>
            </a:r>
            <a:r>
              <a:rPr lang="en-US" altLang="ja-JP" sz="2400" dirty="0"/>
              <a:t>1% (VF</a:t>
            </a:r>
            <a:r>
              <a:rPr lang="ja-JP" altLang="en-US" sz="2400" dirty="0"/>
              <a:t>部</a:t>
            </a:r>
            <a:r>
              <a:rPr lang="en-US" altLang="ja-JP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78561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63217D-CD3A-BB83-5673-72A4BBEBD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" y="121443"/>
            <a:ext cx="2608386" cy="837834"/>
          </a:xfrm>
        </p:spPr>
        <p:txBody>
          <a:bodyPr/>
          <a:lstStyle/>
          <a:p>
            <a:r>
              <a:rPr kumimoji="1" lang="ja-JP" altLang="en-US" dirty="0"/>
              <a:t>消費電流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6EF2AD3-999A-00B1-F7B3-781A859D9A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8008" y="959277"/>
            <a:ext cx="9740372" cy="3859247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E332F7B-F9B7-E132-2018-5AFAA44C0D18}"/>
              </a:ext>
            </a:extLst>
          </p:cNvPr>
          <p:cNvSpPr txBox="1"/>
          <p:nvPr/>
        </p:nvSpPr>
        <p:spPr>
          <a:xfrm>
            <a:off x="908538" y="5063704"/>
            <a:ext cx="7241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DAC</a:t>
            </a:r>
            <a:r>
              <a:rPr kumimoji="1" lang="ja-JP" altLang="en-US" sz="2400" dirty="0"/>
              <a:t>出力の</a:t>
            </a:r>
            <a:r>
              <a:rPr kumimoji="1" lang="en-US" altLang="ja-JP" sz="2400" dirty="0"/>
              <a:t>200n~300n</a:t>
            </a:r>
            <a:r>
              <a:rPr kumimoji="1" lang="ja-JP" altLang="en-US" sz="2400" dirty="0"/>
              <a:t>を測定</a:t>
            </a:r>
            <a:r>
              <a:rPr kumimoji="1" lang="en-US" altLang="ja-JP" sz="2400" dirty="0"/>
              <a:t>(VIN=0xfff, PD=VIH)</a:t>
            </a:r>
            <a:endParaRPr kumimoji="1" lang="ja-JP" altLang="en-US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E0AC2F2-4FBC-F733-42DA-214C582292B3}"/>
              </a:ext>
            </a:extLst>
          </p:cNvPr>
          <p:cNvSpPr txBox="1"/>
          <p:nvPr/>
        </p:nvSpPr>
        <p:spPr>
          <a:xfrm>
            <a:off x="7318132" y="5644179"/>
            <a:ext cx="43228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　ピーク電流：</a:t>
            </a:r>
            <a:r>
              <a:rPr kumimoji="1" lang="en-US" altLang="ja-JP" sz="2400" dirty="0"/>
              <a:t>0.272[mA]</a:t>
            </a:r>
          </a:p>
          <a:p>
            <a:r>
              <a:rPr lang="ja-JP" altLang="en-US" sz="2400" dirty="0"/>
              <a:t>平均消費電流：</a:t>
            </a:r>
            <a:r>
              <a:rPr lang="en-US" altLang="ja-JP" sz="2400" dirty="0"/>
              <a:t>0.370[</a:t>
            </a:r>
            <a:r>
              <a:rPr lang="en-US" altLang="ja-JP" sz="2400" dirty="0" err="1"/>
              <a:t>uA</a:t>
            </a:r>
            <a:r>
              <a:rPr lang="en-US" altLang="ja-JP" sz="2400" dirty="0"/>
              <a:t>]</a:t>
            </a:r>
            <a:endParaRPr kumimoji="1" lang="ja-JP" altLang="en-US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5781CBCB-02E7-F52F-7A80-DD98B3F12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076" y="5770549"/>
            <a:ext cx="6550238" cy="4803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43514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CF8FA8-D600-E7C8-4DEE-8E4C2D307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454" y="193431"/>
            <a:ext cx="4261338" cy="837834"/>
          </a:xfrm>
        </p:spPr>
        <p:txBody>
          <a:bodyPr/>
          <a:lstStyle/>
          <a:p>
            <a:r>
              <a:rPr kumimoji="1" lang="ja-JP" altLang="en-US" dirty="0"/>
              <a:t>スタンバイ電流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5B20241-A63A-B422-7230-3DE3F5CF5F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8265" y="1160300"/>
            <a:ext cx="9612520" cy="3763392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2143F35-8012-C606-BFE4-315DA7914F5D}"/>
              </a:ext>
            </a:extLst>
          </p:cNvPr>
          <p:cNvSpPr txBox="1"/>
          <p:nvPr/>
        </p:nvSpPr>
        <p:spPr>
          <a:xfrm>
            <a:off x="1068265" y="5116458"/>
            <a:ext cx="7241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DAC</a:t>
            </a:r>
            <a:r>
              <a:rPr kumimoji="1" lang="ja-JP" altLang="en-US" sz="2400" dirty="0"/>
              <a:t>出力の</a:t>
            </a:r>
            <a:r>
              <a:rPr kumimoji="1" lang="en-US" altLang="ja-JP" sz="2400" dirty="0"/>
              <a:t>200n~300n</a:t>
            </a:r>
            <a:r>
              <a:rPr kumimoji="1" lang="ja-JP" altLang="en-US" sz="2400" dirty="0"/>
              <a:t>を測定</a:t>
            </a:r>
            <a:r>
              <a:rPr kumimoji="1" lang="en-US" altLang="ja-JP" sz="2400" dirty="0"/>
              <a:t>(VIN=0xfff, PD=VIL)</a:t>
            </a:r>
            <a:endParaRPr kumimoji="1" lang="ja-JP" altLang="en-US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C9685CD-423E-0665-6F89-6A2AC0E43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20" y="5697700"/>
            <a:ext cx="6885518" cy="620454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5C65B56-EE37-F730-72FB-7ED6387D7A50}"/>
              </a:ext>
            </a:extLst>
          </p:cNvPr>
          <p:cNvSpPr txBox="1"/>
          <p:nvPr/>
        </p:nvSpPr>
        <p:spPr>
          <a:xfrm>
            <a:off x="7520355" y="5683915"/>
            <a:ext cx="43228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　ピーク電流：</a:t>
            </a:r>
            <a:r>
              <a:rPr lang="en-US" altLang="ja-JP" sz="2400" dirty="0"/>
              <a:t>75.74</a:t>
            </a:r>
            <a:r>
              <a:rPr kumimoji="1" lang="en-US" altLang="ja-JP" sz="2400" dirty="0"/>
              <a:t>[</a:t>
            </a:r>
            <a:r>
              <a:rPr lang="en-US" altLang="ja-JP" sz="2400" dirty="0" err="1"/>
              <a:t>u</a:t>
            </a:r>
            <a:r>
              <a:rPr kumimoji="1" lang="en-US" altLang="ja-JP" sz="2400" dirty="0" err="1"/>
              <a:t>A</a:t>
            </a:r>
            <a:r>
              <a:rPr kumimoji="1" lang="en-US" altLang="ja-JP" sz="2400" dirty="0"/>
              <a:t>]</a:t>
            </a:r>
          </a:p>
          <a:p>
            <a:r>
              <a:rPr lang="ja-JP" altLang="en-US" sz="2400" dirty="0"/>
              <a:t>平均消費電流：</a:t>
            </a:r>
            <a:r>
              <a:rPr lang="en-US" altLang="ja-JP" sz="2400" dirty="0"/>
              <a:t>0.106[</a:t>
            </a:r>
            <a:r>
              <a:rPr lang="en-US" altLang="ja-JP" sz="2400" dirty="0" err="1"/>
              <a:t>uA</a:t>
            </a:r>
            <a:r>
              <a:rPr lang="en-US" altLang="ja-JP" sz="2400" dirty="0"/>
              <a:t>]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4813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524000" y="0"/>
            <a:ext cx="21788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データシートのフォーマット</a:t>
            </a:r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590776"/>
              </p:ext>
            </p:extLst>
          </p:nvPr>
        </p:nvGraphicFramePr>
        <p:xfrm>
          <a:off x="1919536" y="285728"/>
          <a:ext cx="8424936" cy="3313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29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5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1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0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21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21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0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3317">
                <a:tc gridSpan="8"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DAC</a:t>
                      </a:r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部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(VDD=3.3V, VSS=0V)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317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項目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Symbol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条件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目標値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typ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ワースト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単位</a:t>
                      </a:r>
                      <a:endParaRPr kumimoji="1" lang="en-US" altLang="ja-JP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084"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INL</a:t>
                      </a:r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エラー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INL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データ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=x000-</a:t>
                      </a:r>
                      <a:r>
                        <a:rPr kumimoji="1" lang="en-US" altLang="ja-JP" sz="1200" b="0" dirty="0">
                          <a:solidFill>
                            <a:srgbClr val="FF0000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xfff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Meiryo UI" pitchFamily="50" charset="-128"/>
                          <a:ea typeface="Meiryo UI" pitchFamily="50" charset="-128"/>
                        </a:rPr>
                        <a:t>±2</a:t>
                      </a:r>
                      <a:endParaRPr kumimoji="1" lang="ja-JP" altLang="en-US" sz="1200" dirty="0"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LSB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084"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DNL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DNL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データ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=x000-</a:t>
                      </a:r>
                      <a:r>
                        <a:rPr kumimoji="1" lang="en-US" altLang="ja-JP" sz="1200" b="0" dirty="0">
                          <a:solidFill>
                            <a:srgbClr val="FF0000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xfff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Meiryo UI" pitchFamily="50" charset="-128"/>
                          <a:ea typeface="Meiryo UI" pitchFamily="50" charset="-128"/>
                        </a:rPr>
                        <a:t>±1</a:t>
                      </a:r>
                      <a:endParaRPr kumimoji="1" lang="ja-JP" altLang="en-US" sz="1200" dirty="0"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LSB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084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オフセットエラー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Vos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VIN=</a:t>
                      </a:r>
                      <a:r>
                        <a:rPr kumimoji="1" lang="en-US" altLang="ja-JP" sz="1200" b="0" dirty="0">
                          <a:solidFill>
                            <a:srgbClr val="FF0000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x000</a:t>
                      </a:r>
                      <a:endParaRPr kumimoji="1" lang="ja-JP" altLang="en-US" sz="1200" b="0" dirty="0">
                        <a:solidFill>
                          <a:srgbClr val="FF0000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Meiryo UI" pitchFamily="50" charset="-128"/>
                          <a:ea typeface="Meiryo UI" pitchFamily="50" charset="-128"/>
                        </a:rPr>
                        <a:t>5</a:t>
                      </a:r>
                      <a:endParaRPr kumimoji="1" lang="ja-JP" altLang="en-US" sz="1200" dirty="0"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ほぼ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0%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%of FSR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084"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Gain </a:t>
                      </a:r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エラー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gE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VIN=</a:t>
                      </a:r>
                      <a:r>
                        <a:rPr kumimoji="1" lang="en-US" altLang="ja-JP" sz="1200" b="0" dirty="0" err="1">
                          <a:solidFill>
                            <a:srgbClr val="FF0000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xfff</a:t>
                      </a:r>
                      <a:endParaRPr kumimoji="1" lang="ja-JP" altLang="en-US" sz="1200" b="0" dirty="0">
                        <a:solidFill>
                          <a:srgbClr val="FF0000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5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0.273%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%of FSR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9084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消費電流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IDD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VIN=</a:t>
                      </a:r>
                      <a:r>
                        <a:rPr kumimoji="1" lang="en-US" altLang="ja-JP" sz="1200" b="0" dirty="0" err="1">
                          <a:solidFill>
                            <a:srgbClr val="FF0000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xfff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, PD=VIH, f=10MHz*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5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0.272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mA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9084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スタンバイ電流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IDDS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PD=VIL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100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75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uA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3317">
                <a:tc gridSpan="8"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ボルテージフォロワーアンプ部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(VDD=3.3V, VSS=0V)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3317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出力電圧範囲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VOUT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/>
                        <a:t>**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0.33</a:t>
                      </a:r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～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3.26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513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位相裕度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Φ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/>
                        <a:t>90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56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°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3513"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Slew Rate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SR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RL=1k,</a:t>
                      </a:r>
                      <a:r>
                        <a:rPr kumimoji="1" lang="en-US" altLang="ja-JP" sz="1200" b="0" baseline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 </a:t>
                      </a:r>
                      <a:r>
                        <a:rPr kumimoji="1" lang="en-US" altLang="ja-JP" sz="1200" b="0" baseline="0" dirty="0" err="1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Vout</a:t>
                      </a:r>
                      <a:r>
                        <a:rPr kumimoji="1" lang="en-US" altLang="ja-JP" sz="1200" b="0" baseline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=2VPP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/>
                        <a:t>20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63.01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V/us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3513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出力電流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IOUT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CL=1pF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/>
                        <a:t>1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0.064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err="1"/>
                        <a:t>mA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テキスト ボックス 5"/>
          <p:cNvSpPr txBox="1"/>
          <p:nvPr/>
        </p:nvSpPr>
        <p:spPr>
          <a:xfrm>
            <a:off x="1596009" y="3963719"/>
            <a:ext cx="9557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ブロック図</a:t>
            </a:r>
          </a:p>
        </p:txBody>
      </p:sp>
      <p:sp>
        <p:nvSpPr>
          <p:cNvPr id="7" name="台形 6"/>
          <p:cNvSpPr/>
          <p:nvPr/>
        </p:nvSpPr>
        <p:spPr>
          <a:xfrm>
            <a:off x="2927648" y="4638671"/>
            <a:ext cx="1008112" cy="792088"/>
          </a:xfrm>
          <a:prstGeom prst="trapezoid">
            <a:avLst/>
          </a:prstGeom>
          <a:noFill/>
          <a:ln>
            <a:solidFill>
              <a:schemeClr val="tx1"/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775520" y="4899824"/>
            <a:ext cx="936104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DIN[11:0]</a:t>
            </a:r>
            <a:endParaRPr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cxnSp>
        <p:nvCxnSpPr>
          <p:cNvPr id="10" name="直線矢印コネクタ 9"/>
          <p:cNvCxnSpPr>
            <a:stCxn id="8" idx="3"/>
            <a:endCxn id="7" idx="1"/>
          </p:cNvCxnSpPr>
          <p:nvPr/>
        </p:nvCxnSpPr>
        <p:spPr>
          <a:xfrm>
            <a:off x="2711625" y="5028509"/>
            <a:ext cx="315035" cy="6207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2639616" y="4179744"/>
            <a:ext cx="2232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Meiryo UI" pitchFamily="50" charset="-128"/>
                <a:ea typeface="Meiryo UI" pitchFamily="50" charset="-128"/>
              </a:rPr>
              <a:t>抵抗ラダー、キャパシタタイプ </a:t>
            </a:r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DAC</a:t>
            </a:r>
            <a:endParaRPr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3" name="二等辺三角形 12"/>
          <p:cNvSpPr/>
          <p:nvPr/>
        </p:nvSpPr>
        <p:spPr>
          <a:xfrm>
            <a:off x="4655840" y="4827815"/>
            <a:ext cx="1080120" cy="792088"/>
          </a:xfrm>
          <a:prstGeom prst="triangle">
            <a:avLst/>
          </a:prstGeom>
          <a:noFill/>
          <a:ln>
            <a:solidFill>
              <a:schemeClr val="tx1"/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2135560" y="5979944"/>
            <a:ext cx="504056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r"/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PD</a:t>
            </a:r>
          </a:p>
        </p:txBody>
      </p:sp>
      <p:cxnSp>
        <p:nvCxnSpPr>
          <p:cNvPr id="17" name="図形 16"/>
          <p:cNvCxnSpPr>
            <a:stCxn id="15" idx="3"/>
            <a:endCxn id="7" idx="2"/>
          </p:cNvCxnSpPr>
          <p:nvPr/>
        </p:nvCxnSpPr>
        <p:spPr>
          <a:xfrm flipV="1">
            <a:off x="2639616" y="5430760"/>
            <a:ext cx="792088" cy="677869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/>
          <p:cNvCxnSpPr>
            <a:stCxn id="7" idx="3"/>
          </p:cNvCxnSpPr>
          <p:nvPr/>
        </p:nvCxnSpPr>
        <p:spPr>
          <a:xfrm>
            <a:off x="3836750" y="5034715"/>
            <a:ext cx="963107" cy="912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/>
          <p:cNvCxnSpPr/>
          <p:nvPr/>
        </p:nvCxnSpPr>
        <p:spPr>
          <a:xfrm>
            <a:off x="5591944" y="5187855"/>
            <a:ext cx="10801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/>
          <p:cNvCxnSpPr/>
          <p:nvPr/>
        </p:nvCxnSpPr>
        <p:spPr>
          <a:xfrm>
            <a:off x="6096000" y="5187855"/>
            <a:ext cx="0" cy="7200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/>
          <p:cNvCxnSpPr/>
          <p:nvPr/>
        </p:nvCxnSpPr>
        <p:spPr>
          <a:xfrm flipH="1">
            <a:off x="4223792" y="5907935"/>
            <a:ext cx="18722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/>
          <p:cNvCxnSpPr/>
          <p:nvPr/>
        </p:nvCxnSpPr>
        <p:spPr>
          <a:xfrm flipV="1">
            <a:off x="4223792" y="5475887"/>
            <a:ext cx="0" cy="4320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/>
          <p:cNvCxnSpPr/>
          <p:nvPr/>
        </p:nvCxnSpPr>
        <p:spPr>
          <a:xfrm>
            <a:off x="4223792" y="5475887"/>
            <a:ext cx="576064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48"/>
          <p:cNvSpPr txBox="1"/>
          <p:nvPr/>
        </p:nvSpPr>
        <p:spPr>
          <a:xfrm>
            <a:off x="4799856" y="4901565"/>
            <a:ext cx="351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+</a:t>
            </a:r>
          </a:p>
          <a:p>
            <a:r>
              <a:rPr lang="en-US" altLang="ja-JP" dirty="0"/>
              <a:t>-</a:t>
            </a:r>
            <a:endParaRPr lang="ja-JP" altLang="en-US" dirty="0"/>
          </a:p>
        </p:txBody>
      </p:sp>
      <p:cxnSp>
        <p:nvCxnSpPr>
          <p:cNvPr id="55" name="直線コネクタ 54"/>
          <p:cNvCxnSpPr/>
          <p:nvPr/>
        </p:nvCxnSpPr>
        <p:spPr>
          <a:xfrm flipH="1">
            <a:off x="2639616" y="6411991"/>
            <a:ext cx="273630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/>
          <p:cNvCxnSpPr/>
          <p:nvPr/>
        </p:nvCxnSpPr>
        <p:spPr>
          <a:xfrm flipV="1">
            <a:off x="5375920" y="5403879"/>
            <a:ext cx="0" cy="100811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コネクタ 60"/>
          <p:cNvCxnSpPr/>
          <p:nvPr/>
        </p:nvCxnSpPr>
        <p:spPr>
          <a:xfrm flipH="1">
            <a:off x="3431704" y="6123959"/>
            <a:ext cx="158417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/>
          <p:cNvCxnSpPr/>
          <p:nvPr/>
        </p:nvCxnSpPr>
        <p:spPr>
          <a:xfrm flipV="1">
            <a:off x="5015880" y="5619903"/>
            <a:ext cx="0" cy="5040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テキスト ボックス 64"/>
          <p:cNvSpPr txBox="1"/>
          <p:nvPr/>
        </p:nvSpPr>
        <p:spPr>
          <a:xfrm>
            <a:off x="6744072" y="5043840"/>
            <a:ext cx="936104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VOUT</a:t>
            </a:r>
            <a:endParaRPr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66" name="テキスト ボックス 65"/>
          <p:cNvSpPr txBox="1"/>
          <p:nvPr/>
        </p:nvSpPr>
        <p:spPr>
          <a:xfrm>
            <a:off x="3863752" y="4755808"/>
            <a:ext cx="936104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DACO</a:t>
            </a:r>
            <a:endParaRPr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67" name="テキスト ボックス 66"/>
          <p:cNvSpPr txBox="1"/>
          <p:nvPr/>
        </p:nvSpPr>
        <p:spPr>
          <a:xfrm>
            <a:off x="4943872" y="4179744"/>
            <a:ext cx="2232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Meiryo UI" pitchFamily="50" charset="-128"/>
                <a:ea typeface="Meiryo UI" pitchFamily="50" charset="-128"/>
              </a:rPr>
              <a:t>ボルテージフォロワーアンプ</a:t>
            </a:r>
          </a:p>
        </p:txBody>
      </p:sp>
      <p:sp>
        <p:nvSpPr>
          <p:cNvPr id="27" name="スライド番号プレースホル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39D7E-0E06-4B1F-8112-F8D22E8141D5}" type="slidenum">
              <a:rPr kumimoji="1" lang="ja-JP" altLang="en-US" smtClean="0"/>
              <a:pPr/>
              <a:t>20</a:t>
            </a:fld>
            <a:endParaRPr kumimoji="1" lang="ja-JP" altLang="en-US"/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1919536" y="3656058"/>
            <a:ext cx="43193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*:f=DIN</a:t>
            </a:r>
            <a:r>
              <a:rPr lang="ja-JP" altLang="en-US" sz="1200" dirty="0">
                <a:latin typeface="Meiryo UI" pitchFamily="50" charset="-128"/>
                <a:ea typeface="Meiryo UI" pitchFamily="50" charset="-128"/>
              </a:rPr>
              <a:t>のサイクル周波数</a:t>
            </a:r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, **:</a:t>
            </a:r>
            <a:r>
              <a:rPr lang="en-US" altLang="ja-JP" sz="12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 :VSS+0.7</a:t>
            </a:r>
            <a:r>
              <a:rPr lang="ja-JP" altLang="en-US" sz="12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～</a:t>
            </a:r>
            <a:r>
              <a:rPr lang="en-US" altLang="ja-JP" sz="12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VDD-0.7</a:t>
            </a:r>
            <a:endParaRPr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1703512" y="6165305"/>
            <a:ext cx="936104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r"/>
            <a:r>
              <a:rPr lang="en-US" altLang="ja-JP" sz="1200" dirty="0" err="1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IrefSink</a:t>
            </a:r>
            <a:endParaRPr lang="en-US" altLang="ja-JP" sz="1200" dirty="0">
              <a:solidFill>
                <a:srgbClr val="FF0000"/>
              </a:solidFill>
              <a:latin typeface="Meiryo UI" pitchFamily="50" charset="-128"/>
              <a:ea typeface="Meiryo UI" pitchFamily="50" charset="-128"/>
            </a:endParaRPr>
          </a:p>
          <a:p>
            <a:pPr algn="r"/>
            <a:r>
              <a:rPr lang="en-US" altLang="ja-JP" sz="1200" dirty="0" err="1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IrefSource</a:t>
            </a:r>
            <a:endParaRPr lang="en-US" altLang="ja-JP" sz="1200" dirty="0">
              <a:solidFill>
                <a:srgbClr val="FF0000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3719736" y="6309321"/>
            <a:ext cx="360040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r"/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/2</a:t>
            </a:r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7310446" y="3857628"/>
            <a:ext cx="30718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9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月の課題からの変更点</a:t>
            </a:r>
            <a:endParaRPr lang="en-US" altLang="ja-JP" sz="1400" dirty="0">
              <a:solidFill>
                <a:srgbClr val="FF0000"/>
              </a:solidFill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・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DAC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のビット数（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14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→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12)</a:t>
            </a:r>
          </a:p>
          <a:p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・出力範囲（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Rail to Rail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→緩和）</a:t>
            </a:r>
            <a:endParaRPr lang="en-US" altLang="ja-JP" sz="1400" dirty="0">
              <a:solidFill>
                <a:srgbClr val="FF0000"/>
              </a:solidFill>
              <a:latin typeface="Meiryo UI" pitchFamily="50" charset="-128"/>
              <a:ea typeface="Meiryo UI" pitchFamily="50" charset="-128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BE7C6C-7591-C353-370B-6D411A932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430" y="307730"/>
            <a:ext cx="4753708" cy="943342"/>
          </a:xfrm>
        </p:spPr>
        <p:txBody>
          <a:bodyPr/>
          <a:lstStyle/>
          <a:p>
            <a:r>
              <a:rPr kumimoji="1" lang="ja-JP" altLang="en-US" dirty="0"/>
              <a:t>まとめ </a:t>
            </a:r>
            <a:r>
              <a:rPr kumimoji="1" lang="en-US" altLang="ja-JP" dirty="0"/>
              <a:t>(1/2)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2F5168-EC14-B764-4298-B5A37393F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546" y="1802666"/>
            <a:ext cx="10515600" cy="2083655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・オペアンプの寸法を見直し、</a:t>
            </a:r>
            <a:r>
              <a:rPr lang="ja-JP" altLang="en-US" dirty="0"/>
              <a:t>スルーレートをはじめ特性が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大幅に向上した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→ 余裕を持たせるためにもう少しスルーレートが必要かも？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・</a:t>
            </a:r>
            <a:r>
              <a:rPr lang="en-US" altLang="ja-JP" dirty="0"/>
              <a:t>INL</a:t>
            </a:r>
            <a:r>
              <a:rPr lang="ja-JP" altLang="en-US" dirty="0"/>
              <a:t>と</a:t>
            </a:r>
            <a:r>
              <a:rPr lang="en-US" altLang="ja-JP" dirty="0"/>
              <a:t>DNL</a:t>
            </a:r>
            <a:r>
              <a:rPr lang="ja-JP" altLang="en-US" dirty="0"/>
              <a:t>は後日検証します</a:t>
            </a:r>
            <a:endParaRPr lang="en-US" altLang="ja-JP" dirty="0"/>
          </a:p>
        </p:txBody>
      </p:sp>
      <p:pic>
        <p:nvPicPr>
          <p:cNvPr id="4" name="コンテンツ プレースホルダー 4">
            <a:extLst>
              <a:ext uri="{FF2B5EF4-FFF2-40B4-BE49-F238E27FC236}">
                <a16:creationId xmlns:a16="http://schemas.microsoft.com/office/drawing/2014/main" id="{227AE2FE-A653-E3C8-72EA-CB424E52D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8138" y="3974244"/>
            <a:ext cx="6564969" cy="268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9692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71A209-99CD-7E46-8137-8D7B88D00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623" y="311760"/>
            <a:ext cx="3302977" cy="1009651"/>
          </a:xfrm>
        </p:spPr>
        <p:txBody>
          <a:bodyPr/>
          <a:lstStyle/>
          <a:p>
            <a:r>
              <a:rPr kumimoji="1" lang="ja-JP" altLang="en-US" dirty="0"/>
              <a:t>まとめ </a:t>
            </a:r>
            <a:r>
              <a:rPr kumimoji="1" lang="en-US" altLang="ja-JP" dirty="0"/>
              <a:t>(2/2)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FE05C7-C6B4-E551-D33E-2DE92C6CC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715" y="1538654"/>
            <a:ext cx="9088316" cy="1512278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ja-JP" dirty="0"/>
              <a:t>DAC</a:t>
            </a:r>
            <a:r>
              <a:rPr kumimoji="1" lang="ja-JP" altLang="en-US" dirty="0"/>
              <a:t>部後段のサンプルホールド回路について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→サンプルホールド回路で行うサンプリングの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ウィンドウ幅の規定があるかどうかという懸念がある</a:t>
            </a:r>
            <a:endParaRPr kumimoji="1" lang="ja-JP" altLang="en-US" dirty="0"/>
          </a:p>
        </p:txBody>
      </p:sp>
      <p:pic>
        <p:nvPicPr>
          <p:cNvPr id="4" name="コンテンツ プレースホルダー 4">
            <a:extLst>
              <a:ext uri="{FF2B5EF4-FFF2-40B4-BE49-F238E27FC236}">
                <a16:creationId xmlns:a16="http://schemas.microsoft.com/office/drawing/2014/main" id="{6A1ADFD0-1261-F774-0FEF-17E5E7D782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848"/>
          <a:stretch>
            <a:fillRect/>
          </a:stretch>
        </p:blipFill>
        <p:spPr>
          <a:xfrm>
            <a:off x="7508631" y="3268175"/>
            <a:ext cx="4114800" cy="3419502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8FA0467-09DB-4801-4D82-C467FF37CB49}"/>
              </a:ext>
            </a:extLst>
          </p:cNvPr>
          <p:cNvSpPr txBox="1"/>
          <p:nvPr/>
        </p:nvSpPr>
        <p:spPr>
          <a:xfrm>
            <a:off x="477715" y="3604846"/>
            <a:ext cx="6819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例えば、右の波形の</a:t>
            </a:r>
            <a:r>
              <a:rPr kumimoji="1" lang="en-US" altLang="ja-JP" sz="2400" dirty="0"/>
              <a:t>200ns</a:t>
            </a:r>
            <a:r>
              <a:rPr kumimoji="1" lang="ja-JP" altLang="en-US" sz="2400" dirty="0"/>
              <a:t>時点でサンプリングをすると、</a:t>
            </a:r>
            <a:r>
              <a:rPr kumimoji="1" lang="en-US" altLang="ja-JP" sz="2400" dirty="0"/>
              <a:t>VDD</a:t>
            </a:r>
            <a:r>
              <a:rPr kumimoji="1" lang="ja-JP" altLang="en-US" sz="2400" dirty="0"/>
              <a:t>の値を超えた数値が後段の</a:t>
            </a:r>
            <a:endParaRPr kumimoji="1" lang="en-US" altLang="ja-JP" sz="2400" dirty="0"/>
          </a:p>
          <a:p>
            <a:r>
              <a:rPr kumimoji="1" lang="ja-JP" altLang="en-US" sz="2400" dirty="0"/>
              <a:t>コンパレータに入力されることになる</a:t>
            </a:r>
          </a:p>
        </p:txBody>
      </p:sp>
    </p:spTree>
    <p:extLst>
      <p:ext uri="{BB962C8B-B14F-4D97-AF65-F5344CB8AC3E}">
        <p14:creationId xmlns:p14="http://schemas.microsoft.com/office/powerpoint/2010/main" val="17158323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>
          <a:xfrm>
            <a:off x="10832122" y="6356350"/>
            <a:ext cx="521677" cy="365125"/>
          </a:xfrm>
        </p:spPr>
        <p:txBody>
          <a:bodyPr/>
          <a:lstStyle/>
          <a:p>
            <a:fld id="{97239D7E-0E06-4B1F-8112-F8D22E8141D5}" type="slidenum">
              <a:rPr kumimoji="1" lang="ja-JP" altLang="en-US" smtClean="0"/>
              <a:pPr/>
              <a:t>23</a:t>
            </a:fld>
            <a:endParaRPr kumimoji="1"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532793" y="360040"/>
            <a:ext cx="28360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今回の回路を使った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ADC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の構造</a:t>
            </a:r>
          </a:p>
        </p:txBody>
      </p:sp>
      <p:sp>
        <p:nvSpPr>
          <p:cNvPr id="6" name="台形 5"/>
          <p:cNvSpPr/>
          <p:nvPr/>
        </p:nvSpPr>
        <p:spPr>
          <a:xfrm>
            <a:off x="2842382" y="1223632"/>
            <a:ext cx="1008112" cy="792088"/>
          </a:xfrm>
          <a:prstGeom prst="trapezoid">
            <a:avLst/>
          </a:prstGeom>
          <a:noFill/>
          <a:ln>
            <a:solidFill>
              <a:schemeClr val="tx1"/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690254" y="1484785"/>
            <a:ext cx="936104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DIN[11:0]</a:t>
            </a:r>
            <a:endParaRPr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cxnSp>
        <p:nvCxnSpPr>
          <p:cNvPr id="8" name="直線矢印コネクタ 7"/>
          <p:cNvCxnSpPr>
            <a:stCxn id="7" idx="3"/>
            <a:endCxn id="6" idx="1"/>
          </p:cNvCxnSpPr>
          <p:nvPr/>
        </p:nvCxnSpPr>
        <p:spPr>
          <a:xfrm>
            <a:off x="2626359" y="1613470"/>
            <a:ext cx="315035" cy="6207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/>
          <p:cNvSpPr txBox="1"/>
          <p:nvPr/>
        </p:nvSpPr>
        <p:spPr>
          <a:xfrm>
            <a:off x="2554350" y="764705"/>
            <a:ext cx="2232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Meiryo UI" pitchFamily="50" charset="-128"/>
                <a:ea typeface="Meiryo UI" pitchFamily="50" charset="-128"/>
              </a:rPr>
              <a:t>抵抗ラダー、キャパシタタイプ </a:t>
            </a:r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DAC</a:t>
            </a:r>
            <a:endParaRPr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0" name="二等辺三角形 9"/>
          <p:cNvSpPr/>
          <p:nvPr/>
        </p:nvSpPr>
        <p:spPr>
          <a:xfrm>
            <a:off x="4570574" y="1412776"/>
            <a:ext cx="1080120" cy="792088"/>
          </a:xfrm>
          <a:prstGeom prst="triangle">
            <a:avLst/>
          </a:prstGeom>
          <a:noFill/>
          <a:ln>
            <a:solidFill>
              <a:schemeClr val="tx1"/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2050294" y="2564905"/>
            <a:ext cx="504056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r"/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PD</a:t>
            </a:r>
            <a:endParaRPr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cxnSp>
        <p:nvCxnSpPr>
          <p:cNvPr id="12" name="図形 11"/>
          <p:cNvCxnSpPr>
            <a:stCxn id="11" idx="3"/>
            <a:endCxn id="6" idx="2"/>
          </p:cNvCxnSpPr>
          <p:nvPr/>
        </p:nvCxnSpPr>
        <p:spPr>
          <a:xfrm flipV="1">
            <a:off x="2554350" y="2015721"/>
            <a:ext cx="792088" cy="677869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/>
          <p:cNvCxnSpPr>
            <a:stCxn id="6" idx="3"/>
          </p:cNvCxnSpPr>
          <p:nvPr/>
        </p:nvCxnSpPr>
        <p:spPr>
          <a:xfrm>
            <a:off x="3751484" y="1619676"/>
            <a:ext cx="913149" cy="912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/>
          <p:cNvCxnSpPr/>
          <p:nvPr/>
        </p:nvCxnSpPr>
        <p:spPr>
          <a:xfrm>
            <a:off x="5506678" y="1772816"/>
            <a:ext cx="648072" cy="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/>
          <p:cNvCxnSpPr/>
          <p:nvPr/>
        </p:nvCxnSpPr>
        <p:spPr>
          <a:xfrm>
            <a:off x="5794710" y="1772816"/>
            <a:ext cx="0" cy="7200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/>
          <p:cNvCxnSpPr/>
          <p:nvPr/>
        </p:nvCxnSpPr>
        <p:spPr>
          <a:xfrm flipH="1">
            <a:off x="4138526" y="2492896"/>
            <a:ext cx="16561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/>
          <p:cNvCxnSpPr/>
          <p:nvPr/>
        </p:nvCxnSpPr>
        <p:spPr>
          <a:xfrm flipV="1">
            <a:off x="4138526" y="2060848"/>
            <a:ext cx="0" cy="4320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/>
          <p:cNvCxnSpPr/>
          <p:nvPr/>
        </p:nvCxnSpPr>
        <p:spPr>
          <a:xfrm>
            <a:off x="4138526" y="2060848"/>
            <a:ext cx="576064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/>
          <p:cNvSpPr txBox="1"/>
          <p:nvPr/>
        </p:nvSpPr>
        <p:spPr>
          <a:xfrm>
            <a:off x="4714590" y="1486526"/>
            <a:ext cx="351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+</a:t>
            </a:r>
          </a:p>
          <a:p>
            <a:r>
              <a:rPr lang="en-US" altLang="ja-JP" dirty="0"/>
              <a:t>-</a:t>
            </a:r>
            <a:endParaRPr lang="ja-JP" altLang="en-US" dirty="0"/>
          </a:p>
        </p:txBody>
      </p:sp>
      <p:cxnSp>
        <p:nvCxnSpPr>
          <p:cNvPr id="21" name="直線コネクタ 20"/>
          <p:cNvCxnSpPr/>
          <p:nvPr/>
        </p:nvCxnSpPr>
        <p:spPr>
          <a:xfrm flipH="1">
            <a:off x="2554350" y="2996952"/>
            <a:ext cx="273630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/>
          <p:cNvCxnSpPr/>
          <p:nvPr/>
        </p:nvCxnSpPr>
        <p:spPr>
          <a:xfrm flipV="1">
            <a:off x="5290654" y="1988840"/>
            <a:ext cx="0" cy="100811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/>
          <p:cNvCxnSpPr/>
          <p:nvPr/>
        </p:nvCxnSpPr>
        <p:spPr>
          <a:xfrm flipH="1">
            <a:off x="3346438" y="2708920"/>
            <a:ext cx="158417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/>
          <p:cNvCxnSpPr/>
          <p:nvPr/>
        </p:nvCxnSpPr>
        <p:spPr>
          <a:xfrm flipV="1">
            <a:off x="4930614" y="2204864"/>
            <a:ext cx="0" cy="5040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/>
          <p:cNvSpPr txBox="1"/>
          <p:nvPr/>
        </p:nvSpPr>
        <p:spPr>
          <a:xfrm>
            <a:off x="3778486" y="1268761"/>
            <a:ext cx="598114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DACO</a:t>
            </a:r>
            <a:endParaRPr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4858606" y="764705"/>
            <a:ext cx="2232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Meiryo UI" pitchFamily="50" charset="-128"/>
                <a:ea typeface="Meiryo UI" pitchFamily="50" charset="-128"/>
              </a:rPr>
              <a:t>ボルテージフォロワーアンプ</a:t>
            </a:r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6730814" y="703730"/>
            <a:ext cx="1728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Meiryo UI" pitchFamily="50" charset="-128"/>
                <a:ea typeface="Meiryo UI" pitchFamily="50" charset="-128"/>
              </a:rPr>
              <a:t>クロックドコンパレータ</a:t>
            </a:r>
          </a:p>
        </p:txBody>
      </p:sp>
      <p:sp>
        <p:nvSpPr>
          <p:cNvPr id="29" name="二等辺三角形 28"/>
          <p:cNvSpPr/>
          <p:nvPr/>
        </p:nvSpPr>
        <p:spPr>
          <a:xfrm>
            <a:off x="6896880" y="1628800"/>
            <a:ext cx="1080120" cy="792088"/>
          </a:xfrm>
          <a:prstGeom prst="triangle">
            <a:avLst/>
          </a:prstGeom>
          <a:noFill/>
          <a:ln>
            <a:solidFill>
              <a:schemeClr val="tx1"/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/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6248808" y="2780929"/>
            <a:ext cx="504056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r"/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PD</a:t>
            </a:r>
            <a:endParaRPr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cxnSp>
        <p:nvCxnSpPr>
          <p:cNvPr id="31" name="図形 30"/>
          <p:cNvCxnSpPr>
            <a:stCxn id="30" idx="3"/>
          </p:cNvCxnSpPr>
          <p:nvPr/>
        </p:nvCxnSpPr>
        <p:spPr>
          <a:xfrm flipV="1">
            <a:off x="6752864" y="2231745"/>
            <a:ext cx="792088" cy="677869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31"/>
          <p:cNvCxnSpPr/>
          <p:nvPr/>
        </p:nvCxnSpPr>
        <p:spPr>
          <a:xfrm>
            <a:off x="7832985" y="1988840"/>
            <a:ext cx="963107" cy="912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/>
          <p:cNvSpPr txBox="1"/>
          <p:nvPr/>
        </p:nvSpPr>
        <p:spPr>
          <a:xfrm>
            <a:off x="6248808" y="3356993"/>
            <a:ext cx="504056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r"/>
            <a:r>
              <a:rPr lang="en-US" altLang="ja-JP" sz="1200" dirty="0" err="1">
                <a:latin typeface="Meiryo UI" pitchFamily="50" charset="-128"/>
                <a:ea typeface="Meiryo UI" pitchFamily="50" charset="-128"/>
              </a:rPr>
              <a:t>clk</a:t>
            </a:r>
            <a:endParaRPr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cxnSp>
        <p:nvCxnSpPr>
          <p:cNvPr id="34" name="直線コネクタ 33"/>
          <p:cNvCxnSpPr/>
          <p:nvPr/>
        </p:nvCxnSpPr>
        <p:spPr>
          <a:xfrm flipH="1">
            <a:off x="6752864" y="3212976"/>
            <a:ext cx="50405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矢印コネクタ 34"/>
          <p:cNvCxnSpPr/>
          <p:nvPr/>
        </p:nvCxnSpPr>
        <p:spPr>
          <a:xfrm flipV="1">
            <a:off x="7256920" y="2420888"/>
            <a:ext cx="0" cy="7920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/>
          <p:cNvCxnSpPr/>
          <p:nvPr/>
        </p:nvCxnSpPr>
        <p:spPr>
          <a:xfrm flipH="1">
            <a:off x="7544952" y="2924944"/>
            <a:ext cx="136815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/>
          <p:cNvCxnSpPr/>
          <p:nvPr/>
        </p:nvCxnSpPr>
        <p:spPr>
          <a:xfrm flipV="1">
            <a:off x="8913104" y="2564904"/>
            <a:ext cx="0" cy="36004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/>
          <p:cNvSpPr txBox="1"/>
          <p:nvPr/>
        </p:nvSpPr>
        <p:spPr>
          <a:xfrm>
            <a:off x="7832984" y="1628801"/>
            <a:ext cx="936104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DACO1</a:t>
            </a:r>
            <a:endParaRPr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39" name="テキスト ボックス 38"/>
          <p:cNvSpPr txBox="1"/>
          <p:nvPr/>
        </p:nvSpPr>
        <p:spPr>
          <a:xfrm>
            <a:off x="8963062" y="692697"/>
            <a:ext cx="8640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Meiryo UI" pitchFamily="50" charset="-128"/>
                <a:ea typeface="Meiryo UI" pitchFamily="50" charset="-128"/>
              </a:rPr>
              <a:t>ラッチ</a:t>
            </a:r>
          </a:p>
        </p:txBody>
      </p:sp>
      <p:sp>
        <p:nvSpPr>
          <p:cNvPr id="40" name="正方形/長方形 39"/>
          <p:cNvSpPr/>
          <p:nvPr/>
        </p:nvSpPr>
        <p:spPr>
          <a:xfrm>
            <a:off x="8769088" y="1700808"/>
            <a:ext cx="792088" cy="8640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41" name="直線コネクタ 40"/>
          <p:cNvCxnSpPr/>
          <p:nvPr/>
        </p:nvCxnSpPr>
        <p:spPr>
          <a:xfrm flipH="1">
            <a:off x="6752864" y="3429000"/>
            <a:ext cx="16561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/>
          <p:cNvCxnSpPr/>
          <p:nvPr/>
        </p:nvCxnSpPr>
        <p:spPr>
          <a:xfrm>
            <a:off x="8409048" y="2348880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/>
          <p:cNvCxnSpPr/>
          <p:nvPr/>
        </p:nvCxnSpPr>
        <p:spPr>
          <a:xfrm>
            <a:off x="8409048" y="2348880"/>
            <a:ext cx="0" cy="10801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/>
          <p:cNvSpPr txBox="1"/>
          <p:nvPr/>
        </p:nvSpPr>
        <p:spPr>
          <a:xfrm>
            <a:off x="8819046" y="1700809"/>
            <a:ext cx="8141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    RST</a:t>
            </a:r>
          </a:p>
          <a:p>
            <a:r>
              <a:rPr lang="en-US" altLang="ja-JP" sz="1200" dirty="0"/>
              <a:t>D           Q  </a:t>
            </a:r>
          </a:p>
          <a:p>
            <a:r>
              <a:rPr lang="en-US" altLang="ja-JP" sz="1200" dirty="0"/>
              <a:t>CLK      XQ</a:t>
            </a:r>
          </a:p>
          <a:p>
            <a:r>
              <a:rPr lang="en-US" altLang="ja-JP" sz="1200" dirty="0"/>
              <a:t>PD</a:t>
            </a:r>
            <a:endParaRPr lang="ja-JP" altLang="en-US" sz="1200" dirty="0"/>
          </a:p>
        </p:txBody>
      </p:sp>
      <p:sp>
        <p:nvSpPr>
          <p:cNvPr id="45" name="テキスト ボックス 44"/>
          <p:cNvSpPr txBox="1"/>
          <p:nvPr/>
        </p:nvSpPr>
        <p:spPr>
          <a:xfrm>
            <a:off x="6514790" y="1124745"/>
            <a:ext cx="504056" cy="99603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r"/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RST</a:t>
            </a:r>
          </a:p>
          <a:p>
            <a:pPr algn="r"/>
            <a:endParaRPr lang="en-US" altLang="ja-JP" sz="1200" dirty="0">
              <a:latin typeface="Meiryo UI" pitchFamily="50" charset="-128"/>
              <a:ea typeface="Meiryo UI" pitchFamily="50" charset="-128"/>
            </a:endParaRPr>
          </a:p>
          <a:p>
            <a:pPr algn="r"/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INP</a:t>
            </a:r>
          </a:p>
          <a:p>
            <a:pPr algn="r"/>
            <a:endParaRPr lang="en-US" altLang="ja-JP" sz="1200" dirty="0">
              <a:latin typeface="Meiryo UI" pitchFamily="50" charset="-128"/>
              <a:ea typeface="Meiryo UI" pitchFamily="50" charset="-128"/>
            </a:endParaRPr>
          </a:p>
          <a:p>
            <a:pPr algn="r"/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INN</a:t>
            </a:r>
            <a:endParaRPr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cxnSp>
        <p:nvCxnSpPr>
          <p:cNvPr id="46" name="直線コネクタ 45"/>
          <p:cNvCxnSpPr/>
          <p:nvPr/>
        </p:nvCxnSpPr>
        <p:spPr>
          <a:xfrm flipH="1">
            <a:off x="6824872" y="1412776"/>
            <a:ext cx="23762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矢印コネクタ 46"/>
          <p:cNvCxnSpPr/>
          <p:nvPr/>
        </p:nvCxnSpPr>
        <p:spPr>
          <a:xfrm>
            <a:off x="9201136" y="1412776"/>
            <a:ext cx="0" cy="28803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/>
          <p:cNvCxnSpPr/>
          <p:nvPr/>
        </p:nvCxnSpPr>
        <p:spPr>
          <a:xfrm>
            <a:off x="9561176" y="1988840"/>
            <a:ext cx="288032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/>
          <p:cNvCxnSpPr/>
          <p:nvPr/>
        </p:nvCxnSpPr>
        <p:spPr>
          <a:xfrm>
            <a:off x="9561176" y="2204864"/>
            <a:ext cx="288032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49"/>
          <p:cNvCxnSpPr/>
          <p:nvPr/>
        </p:nvCxnSpPr>
        <p:spPr>
          <a:xfrm>
            <a:off x="6536840" y="1772816"/>
            <a:ext cx="504056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矢印コネクタ 50"/>
          <p:cNvCxnSpPr/>
          <p:nvPr/>
        </p:nvCxnSpPr>
        <p:spPr>
          <a:xfrm>
            <a:off x="6752864" y="2132856"/>
            <a:ext cx="288032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矢印コネクタ 51"/>
          <p:cNvCxnSpPr/>
          <p:nvPr/>
        </p:nvCxnSpPr>
        <p:spPr>
          <a:xfrm flipV="1">
            <a:off x="7400936" y="2348880"/>
            <a:ext cx="0" cy="108012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テキスト ボックス 58"/>
          <p:cNvSpPr txBox="1"/>
          <p:nvPr/>
        </p:nvSpPr>
        <p:spPr>
          <a:xfrm>
            <a:off x="5528728" y="1288711"/>
            <a:ext cx="936104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OUT_DAC</a:t>
            </a:r>
          </a:p>
          <a:p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(</a:t>
            </a:r>
            <a:r>
              <a:rPr lang="ja-JP" altLang="en-US" sz="1200" dirty="0">
                <a:latin typeface="Meiryo UI" pitchFamily="50" charset="-128"/>
                <a:ea typeface="Meiryo UI" pitchFamily="50" charset="-128"/>
              </a:rPr>
              <a:t>モニター</a:t>
            </a:r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)</a:t>
            </a:r>
          </a:p>
        </p:txBody>
      </p:sp>
      <p:sp>
        <p:nvSpPr>
          <p:cNvPr id="65" name="テキスト ボックス 64"/>
          <p:cNvSpPr txBox="1"/>
          <p:nvPr/>
        </p:nvSpPr>
        <p:spPr>
          <a:xfrm>
            <a:off x="9561176" y="1700809"/>
            <a:ext cx="936104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COMPO</a:t>
            </a:r>
            <a:r>
              <a:rPr lang="ja-JP" altLang="en-US" sz="1200" dirty="0">
                <a:latin typeface="Meiryo UI" pitchFamily="50" charset="-128"/>
                <a:ea typeface="Meiryo UI" pitchFamily="50" charset="-128"/>
              </a:rPr>
              <a:t>へ</a:t>
            </a:r>
            <a:endParaRPr lang="en-US" altLang="ja-JP" sz="1200" dirty="0">
              <a:latin typeface="Meiryo UI" pitchFamily="50" charset="-128"/>
              <a:ea typeface="Meiryo UI" pitchFamily="50" charset="-128"/>
            </a:endParaRPr>
          </a:p>
        </p:txBody>
      </p:sp>
      <p:cxnSp>
        <p:nvCxnSpPr>
          <p:cNvPr id="66" name="直線コネクタ 65"/>
          <p:cNvCxnSpPr/>
          <p:nvPr/>
        </p:nvCxnSpPr>
        <p:spPr>
          <a:xfrm flipV="1">
            <a:off x="4304592" y="1124744"/>
            <a:ext cx="0" cy="5040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コネクタ 69"/>
          <p:cNvCxnSpPr/>
          <p:nvPr/>
        </p:nvCxnSpPr>
        <p:spPr>
          <a:xfrm flipH="1">
            <a:off x="4304592" y="1124744"/>
            <a:ext cx="223224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コネクタ 72"/>
          <p:cNvCxnSpPr/>
          <p:nvPr/>
        </p:nvCxnSpPr>
        <p:spPr>
          <a:xfrm flipV="1">
            <a:off x="6536840" y="1124744"/>
            <a:ext cx="0" cy="648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コネクタ 79"/>
          <p:cNvCxnSpPr/>
          <p:nvPr/>
        </p:nvCxnSpPr>
        <p:spPr>
          <a:xfrm flipH="1">
            <a:off x="2720416" y="3429000"/>
            <a:ext cx="33123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コネクタ 81"/>
          <p:cNvCxnSpPr/>
          <p:nvPr/>
        </p:nvCxnSpPr>
        <p:spPr>
          <a:xfrm>
            <a:off x="6032784" y="2132856"/>
            <a:ext cx="0" cy="129614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コネクタ 83"/>
          <p:cNvCxnSpPr/>
          <p:nvPr/>
        </p:nvCxnSpPr>
        <p:spPr>
          <a:xfrm flipH="1">
            <a:off x="6032784" y="2132856"/>
            <a:ext cx="7200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テキスト ボックス 115"/>
          <p:cNvSpPr txBox="1"/>
          <p:nvPr/>
        </p:nvSpPr>
        <p:spPr>
          <a:xfrm>
            <a:off x="2144352" y="3284985"/>
            <a:ext cx="504056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r"/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ADIN</a:t>
            </a:r>
            <a:endParaRPr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17" name="テキスト ボックス 116"/>
          <p:cNvSpPr txBox="1"/>
          <p:nvPr/>
        </p:nvSpPr>
        <p:spPr>
          <a:xfrm>
            <a:off x="1784312" y="2780929"/>
            <a:ext cx="936104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r"/>
            <a:r>
              <a:rPr lang="en-US" altLang="ja-JP" sz="1200" dirty="0" err="1">
                <a:latin typeface="Meiryo UI" pitchFamily="50" charset="-128"/>
                <a:ea typeface="Meiryo UI" pitchFamily="50" charset="-128"/>
              </a:rPr>
              <a:t>IrefSink</a:t>
            </a:r>
            <a:endParaRPr lang="en-US" altLang="ja-JP" sz="1200" dirty="0">
              <a:latin typeface="Meiryo UI" pitchFamily="50" charset="-128"/>
              <a:ea typeface="Meiryo UI" pitchFamily="50" charset="-128"/>
            </a:endParaRPr>
          </a:p>
          <a:p>
            <a:pPr algn="r"/>
            <a:r>
              <a:rPr lang="en-US" altLang="ja-JP" sz="1200" dirty="0" err="1">
                <a:latin typeface="Meiryo UI" pitchFamily="50" charset="-128"/>
                <a:ea typeface="Meiryo UI" pitchFamily="50" charset="-128"/>
              </a:rPr>
              <a:t>IrefSource</a:t>
            </a:r>
            <a:endParaRPr lang="en-US" altLang="ja-JP" sz="12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18" name="テキスト ボックス 117"/>
          <p:cNvSpPr txBox="1"/>
          <p:nvPr/>
        </p:nvSpPr>
        <p:spPr>
          <a:xfrm>
            <a:off x="6032784" y="2986966"/>
            <a:ext cx="936104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r"/>
            <a:r>
              <a:rPr lang="en-US" altLang="ja-JP" sz="1200" dirty="0" err="1">
                <a:latin typeface="Meiryo UI" pitchFamily="50" charset="-128"/>
                <a:ea typeface="Meiryo UI" pitchFamily="50" charset="-128"/>
              </a:rPr>
              <a:t>IrefSink</a:t>
            </a:r>
            <a:endParaRPr lang="en-US" altLang="ja-JP" sz="1200" dirty="0">
              <a:latin typeface="Meiryo UI" pitchFamily="50" charset="-128"/>
              <a:ea typeface="Meiryo UI" pitchFamily="50" charset="-128"/>
            </a:endParaRPr>
          </a:p>
          <a:p>
            <a:pPr algn="r"/>
            <a:r>
              <a:rPr lang="en-US" altLang="ja-JP" sz="1200" dirty="0" err="1">
                <a:latin typeface="Meiryo UI" pitchFamily="50" charset="-128"/>
                <a:ea typeface="Meiryo UI" pitchFamily="50" charset="-128"/>
              </a:rPr>
              <a:t>IrefSource</a:t>
            </a:r>
            <a:endParaRPr lang="en-US" altLang="ja-JP" sz="12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19" name="テキスト ボックス 118"/>
          <p:cNvSpPr txBox="1"/>
          <p:nvPr/>
        </p:nvSpPr>
        <p:spPr>
          <a:xfrm>
            <a:off x="3368488" y="2852937"/>
            <a:ext cx="360040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r"/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/2</a:t>
            </a:r>
          </a:p>
        </p:txBody>
      </p:sp>
      <p:sp>
        <p:nvSpPr>
          <p:cNvPr id="120" name="テキスト ボックス 119"/>
          <p:cNvSpPr txBox="1"/>
          <p:nvPr/>
        </p:nvSpPr>
        <p:spPr>
          <a:xfrm>
            <a:off x="6968888" y="3068961"/>
            <a:ext cx="360040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r"/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/2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D5C447C-D6AC-3760-8F12-7A52F6448C1D}"/>
              </a:ext>
            </a:extLst>
          </p:cNvPr>
          <p:cNvSpPr/>
          <p:nvPr/>
        </p:nvSpPr>
        <p:spPr>
          <a:xfrm>
            <a:off x="2038437" y="3836594"/>
            <a:ext cx="1512168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din[12’h0000]</a:t>
            </a:r>
            <a:endParaRPr lang="ja-JP" altLang="en-US" sz="12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890053F-148A-7AD5-E698-14976FBED55E}"/>
              </a:ext>
            </a:extLst>
          </p:cNvPr>
          <p:cNvSpPr/>
          <p:nvPr/>
        </p:nvSpPr>
        <p:spPr>
          <a:xfrm>
            <a:off x="3550605" y="3836594"/>
            <a:ext cx="1512168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din[12’hf1ff]</a:t>
            </a:r>
            <a:endParaRPr lang="ja-JP" altLang="en-US" sz="12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D76BC97-7C21-F08E-F714-0F03F62DC3BC}"/>
              </a:ext>
            </a:extLst>
          </p:cNvPr>
          <p:cNvSpPr/>
          <p:nvPr/>
        </p:nvSpPr>
        <p:spPr>
          <a:xfrm>
            <a:off x="5062773" y="3836594"/>
            <a:ext cx="1512168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din[12’hfff]</a:t>
            </a:r>
            <a:endParaRPr lang="ja-JP" altLang="en-US" sz="12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9539442E-AD48-F926-C898-1033365B6C93}"/>
              </a:ext>
            </a:extLst>
          </p:cNvPr>
          <p:cNvSpPr/>
          <p:nvPr/>
        </p:nvSpPr>
        <p:spPr>
          <a:xfrm>
            <a:off x="6574941" y="3836594"/>
            <a:ext cx="1512168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din[12’h0ff]</a:t>
            </a:r>
            <a:endParaRPr lang="ja-JP" altLang="en-US" sz="12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7E0567C8-EE68-0E51-6BEA-CDA55B75726F}"/>
              </a:ext>
            </a:extLst>
          </p:cNvPr>
          <p:cNvSpPr/>
          <p:nvPr/>
        </p:nvSpPr>
        <p:spPr>
          <a:xfrm>
            <a:off x="8087109" y="3836594"/>
            <a:ext cx="1512168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din[12’h111]</a:t>
            </a:r>
            <a:endParaRPr lang="ja-JP" altLang="en-US" sz="12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84F02486-A31C-6C8E-CBD9-B70A5F14D4C3}"/>
              </a:ext>
            </a:extLst>
          </p:cNvPr>
          <p:cNvSpPr/>
          <p:nvPr/>
        </p:nvSpPr>
        <p:spPr>
          <a:xfrm>
            <a:off x="2686509" y="4268642"/>
            <a:ext cx="86409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dout</a:t>
            </a:r>
            <a:r>
              <a:rPr lang="en-US" altLang="ja-JP" sz="12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=0</a:t>
            </a:r>
            <a:endParaRPr lang="ja-JP" altLang="en-US" sz="12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C4D9CA55-B0AC-61A8-242B-BD17A305A92D}"/>
              </a:ext>
            </a:extLst>
          </p:cNvPr>
          <p:cNvSpPr/>
          <p:nvPr/>
        </p:nvSpPr>
        <p:spPr>
          <a:xfrm>
            <a:off x="4126669" y="4268642"/>
            <a:ext cx="936104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dout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=</a:t>
            </a:r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vm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*1ff</a:t>
            </a:r>
            <a:endParaRPr lang="ja-JP" altLang="en-US" sz="10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50687EC2-0CA5-A382-7BC6-7C85C80DEC82}"/>
              </a:ext>
            </a:extLst>
          </p:cNvPr>
          <p:cNvSpPr/>
          <p:nvPr/>
        </p:nvSpPr>
        <p:spPr>
          <a:xfrm>
            <a:off x="5494821" y="4268642"/>
            <a:ext cx="1080120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dout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=</a:t>
            </a:r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vm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*</a:t>
            </a:r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fff</a:t>
            </a:r>
            <a:endParaRPr lang="ja-JP" altLang="en-US" sz="10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0778717E-7D79-91D0-6640-74DDFC80A2E2}"/>
              </a:ext>
            </a:extLst>
          </p:cNvPr>
          <p:cNvSpPr/>
          <p:nvPr/>
        </p:nvSpPr>
        <p:spPr>
          <a:xfrm>
            <a:off x="7006989" y="4268642"/>
            <a:ext cx="1080120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dout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=</a:t>
            </a:r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vm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*0ff</a:t>
            </a:r>
            <a:endParaRPr lang="ja-JP" altLang="en-US" sz="10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B027E16A-0E58-D634-523F-D9CD643B853F}"/>
              </a:ext>
            </a:extLst>
          </p:cNvPr>
          <p:cNvSpPr/>
          <p:nvPr/>
        </p:nvSpPr>
        <p:spPr>
          <a:xfrm>
            <a:off x="8519157" y="4268642"/>
            <a:ext cx="1080120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dout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=</a:t>
            </a:r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vm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*111</a:t>
            </a:r>
            <a:endParaRPr lang="ja-JP" altLang="en-US" sz="10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1E16D680-81FC-EBF1-A853-DEE01DB660EB}"/>
              </a:ext>
            </a:extLst>
          </p:cNvPr>
          <p:cNvSpPr/>
          <p:nvPr/>
        </p:nvSpPr>
        <p:spPr>
          <a:xfrm>
            <a:off x="2038437" y="4268642"/>
            <a:ext cx="648072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不定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6E9612FB-9B9C-5569-26CF-26E47278BEFE}"/>
              </a:ext>
            </a:extLst>
          </p:cNvPr>
          <p:cNvSpPr/>
          <p:nvPr/>
        </p:nvSpPr>
        <p:spPr>
          <a:xfrm>
            <a:off x="3550605" y="4268642"/>
            <a:ext cx="576064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不定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E9F3F7A3-8120-192D-DBBA-53733316F302}"/>
              </a:ext>
            </a:extLst>
          </p:cNvPr>
          <p:cNvSpPr/>
          <p:nvPr/>
        </p:nvSpPr>
        <p:spPr>
          <a:xfrm>
            <a:off x="5062773" y="4268642"/>
            <a:ext cx="432048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不定</a:t>
            </a: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3C541B84-FAC5-872F-044C-E807EE8B2E9C}"/>
              </a:ext>
            </a:extLst>
          </p:cNvPr>
          <p:cNvSpPr/>
          <p:nvPr/>
        </p:nvSpPr>
        <p:spPr>
          <a:xfrm>
            <a:off x="6574941" y="4268642"/>
            <a:ext cx="432048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不定</a:t>
            </a: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8275E0D6-7DD1-C294-E471-5949C1C083F6}"/>
              </a:ext>
            </a:extLst>
          </p:cNvPr>
          <p:cNvSpPr/>
          <p:nvPr/>
        </p:nvSpPr>
        <p:spPr>
          <a:xfrm>
            <a:off x="8087109" y="4268642"/>
            <a:ext cx="432048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不定</a:t>
            </a:r>
          </a:p>
        </p:txBody>
      </p: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6B83AC5B-F355-BF8F-8AD8-7DB89C23D947}"/>
              </a:ext>
            </a:extLst>
          </p:cNvPr>
          <p:cNvCxnSpPr/>
          <p:nvPr/>
        </p:nvCxnSpPr>
        <p:spPr>
          <a:xfrm>
            <a:off x="2038437" y="4124626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7D15598F-ABC7-DB04-2387-5EB924A4695A}"/>
              </a:ext>
            </a:extLst>
          </p:cNvPr>
          <p:cNvCxnSpPr/>
          <p:nvPr/>
        </p:nvCxnSpPr>
        <p:spPr>
          <a:xfrm>
            <a:off x="3550605" y="4124626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99A910AD-0629-DA39-94F1-C49F1657393C}"/>
              </a:ext>
            </a:extLst>
          </p:cNvPr>
          <p:cNvCxnSpPr/>
          <p:nvPr/>
        </p:nvCxnSpPr>
        <p:spPr>
          <a:xfrm>
            <a:off x="5062773" y="4124626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B5842186-BA5C-9F4C-DE17-E33C683F1DD0}"/>
              </a:ext>
            </a:extLst>
          </p:cNvPr>
          <p:cNvCxnSpPr/>
          <p:nvPr/>
        </p:nvCxnSpPr>
        <p:spPr>
          <a:xfrm>
            <a:off x="2038437" y="4844706"/>
            <a:ext cx="1512168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矢印コネクタ 75">
            <a:extLst>
              <a:ext uri="{FF2B5EF4-FFF2-40B4-BE49-F238E27FC236}">
                <a16:creationId xmlns:a16="http://schemas.microsoft.com/office/drawing/2014/main" id="{CE13D3ED-86EB-55C0-FD73-83D1CF51144A}"/>
              </a:ext>
            </a:extLst>
          </p:cNvPr>
          <p:cNvCxnSpPr/>
          <p:nvPr/>
        </p:nvCxnSpPr>
        <p:spPr>
          <a:xfrm>
            <a:off x="3550605" y="4844706"/>
            <a:ext cx="1512168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CD1255E4-1E52-104E-F880-31945975994F}"/>
              </a:ext>
            </a:extLst>
          </p:cNvPr>
          <p:cNvSpPr txBox="1"/>
          <p:nvPr/>
        </p:nvSpPr>
        <p:spPr>
          <a:xfrm>
            <a:off x="2830526" y="4855740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100ns</a:t>
            </a:r>
            <a:endParaRPr lang="ja-JP" altLang="en-US" sz="1200" dirty="0"/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E3FB6E91-53A6-ED9B-2FB7-A520CA083659}"/>
              </a:ext>
            </a:extLst>
          </p:cNvPr>
          <p:cNvSpPr txBox="1"/>
          <p:nvPr/>
        </p:nvSpPr>
        <p:spPr>
          <a:xfrm>
            <a:off x="4357386" y="4844707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100ns</a:t>
            </a:r>
            <a:endParaRPr lang="ja-JP" altLang="en-US" sz="1200" dirty="0"/>
          </a:p>
        </p:txBody>
      </p:sp>
      <p:cxnSp>
        <p:nvCxnSpPr>
          <p:cNvPr id="81" name="直線コネクタ 80">
            <a:extLst>
              <a:ext uri="{FF2B5EF4-FFF2-40B4-BE49-F238E27FC236}">
                <a16:creationId xmlns:a16="http://schemas.microsoft.com/office/drawing/2014/main" id="{6CDBDD0D-C9B7-19D1-7AEF-B6C678C5B009}"/>
              </a:ext>
            </a:extLst>
          </p:cNvPr>
          <p:cNvCxnSpPr/>
          <p:nvPr/>
        </p:nvCxnSpPr>
        <p:spPr>
          <a:xfrm>
            <a:off x="6574941" y="4124626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91855B4F-CB69-3C54-734C-F3413CF49C64}"/>
              </a:ext>
            </a:extLst>
          </p:cNvPr>
          <p:cNvCxnSpPr/>
          <p:nvPr/>
        </p:nvCxnSpPr>
        <p:spPr>
          <a:xfrm>
            <a:off x="8087109" y="4124626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D656C6F8-49A7-0617-8191-DC07FDA47AE7}"/>
              </a:ext>
            </a:extLst>
          </p:cNvPr>
          <p:cNvCxnSpPr/>
          <p:nvPr/>
        </p:nvCxnSpPr>
        <p:spPr>
          <a:xfrm>
            <a:off x="9599277" y="4124626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30AA7D42-AB15-3948-705B-AAC8A1120DAD}"/>
              </a:ext>
            </a:extLst>
          </p:cNvPr>
          <p:cNvCxnSpPr/>
          <p:nvPr/>
        </p:nvCxnSpPr>
        <p:spPr>
          <a:xfrm>
            <a:off x="5062773" y="4844706"/>
            <a:ext cx="1512168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4B467DB6-0782-F806-3EA7-DF96684304C0}"/>
              </a:ext>
            </a:extLst>
          </p:cNvPr>
          <p:cNvCxnSpPr/>
          <p:nvPr/>
        </p:nvCxnSpPr>
        <p:spPr>
          <a:xfrm>
            <a:off x="6574941" y="4844706"/>
            <a:ext cx="1512168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矢印コネクタ 87">
            <a:extLst>
              <a:ext uri="{FF2B5EF4-FFF2-40B4-BE49-F238E27FC236}">
                <a16:creationId xmlns:a16="http://schemas.microsoft.com/office/drawing/2014/main" id="{6A3237AF-7F4C-5D87-DCB3-66D620D93A0E}"/>
              </a:ext>
            </a:extLst>
          </p:cNvPr>
          <p:cNvCxnSpPr/>
          <p:nvPr/>
        </p:nvCxnSpPr>
        <p:spPr>
          <a:xfrm>
            <a:off x="8087109" y="4844706"/>
            <a:ext cx="1512168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B5531B7A-1E93-0A65-404C-05859F6372EB}"/>
              </a:ext>
            </a:extLst>
          </p:cNvPr>
          <p:cNvSpPr txBox="1"/>
          <p:nvPr/>
        </p:nvSpPr>
        <p:spPr>
          <a:xfrm>
            <a:off x="5869554" y="4844707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100ns</a:t>
            </a:r>
            <a:endParaRPr lang="ja-JP" altLang="en-US" sz="1200" dirty="0"/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AAC190DF-BC08-07D5-F9F7-6891E5E154F4}"/>
              </a:ext>
            </a:extLst>
          </p:cNvPr>
          <p:cNvSpPr txBox="1"/>
          <p:nvPr/>
        </p:nvSpPr>
        <p:spPr>
          <a:xfrm>
            <a:off x="7309714" y="4844707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100ns</a:t>
            </a:r>
            <a:endParaRPr lang="ja-JP" altLang="en-US" sz="1200" dirty="0"/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0EA50DFE-89D5-6E97-CBB1-72CC38290377}"/>
              </a:ext>
            </a:extLst>
          </p:cNvPr>
          <p:cNvSpPr txBox="1"/>
          <p:nvPr/>
        </p:nvSpPr>
        <p:spPr>
          <a:xfrm>
            <a:off x="8893890" y="4844707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100ns</a:t>
            </a:r>
            <a:endParaRPr lang="ja-JP" altLang="en-US" sz="1200" dirty="0"/>
          </a:p>
        </p:txBody>
      </p: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77BFA4EF-AF7E-552B-6EAB-E9E0EE70D1CC}"/>
              </a:ext>
            </a:extLst>
          </p:cNvPr>
          <p:cNvCxnSpPr/>
          <p:nvPr/>
        </p:nvCxnSpPr>
        <p:spPr>
          <a:xfrm>
            <a:off x="2686509" y="4556674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3ED9F3FD-8E64-BA7E-F933-30C00472638C}"/>
              </a:ext>
            </a:extLst>
          </p:cNvPr>
          <p:cNvCxnSpPr/>
          <p:nvPr/>
        </p:nvCxnSpPr>
        <p:spPr>
          <a:xfrm>
            <a:off x="4126669" y="4556674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0A2B913F-5932-02C5-F44C-73604B99BA0D}"/>
              </a:ext>
            </a:extLst>
          </p:cNvPr>
          <p:cNvCxnSpPr/>
          <p:nvPr/>
        </p:nvCxnSpPr>
        <p:spPr>
          <a:xfrm>
            <a:off x="5494821" y="4556674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81F0656E-0961-A300-EDA3-91C9DC3D5A45}"/>
              </a:ext>
            </a:extLst>
          </p:cNvPr>
          <p:cNvCxnSpPr/>
          <p:nvPr/>
        </p:nvCxnSpPr>
        <p:spPr>
          <a:xfrm>
            <a:off x="8519157" y="4556674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1E47ACA8-E91D-223F-AC07-F08E7B6AE8EC}"/>
              </a:ext>
            </a:extLst>
          </p:cNvPr>
          <p:cNvCxnSpPr/>
          <p:nvPr/>
        </p:nvCxnSpPr>
        <p:spPr>
          <a:xfrm>
            <a:off x="2038437" y="4700690"/>
            <a:ext cx="648072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949265C0-68B5-E87F-AD8C-571989D629D7}"/>
              </a:ext>
            </a:extLst>
          </p:cNvPr>
          <p:cNvSpPr txBox="1"/>
          <p:nvPr/>
        </p:nvSpPr>
        <p:spPr>
          <a:xfrm>
            <a:off x="2701201" y="4556675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&lt;90ns</a:t>
            </a:r>
            <a:endParaRPr lang="ja-JP" altLang="en-US" sz="1200" dirty="0"/>
          </a:p>
        </p:txBody>
      </p:sp>
      <p:cxnSp>
        <p:nvCxnSpPr>
          <p:cNvPr id="106" name="直線矢印コネクタ 105">
            <a:extLst>
              <a:ext uri="{FF2B5EF4-FFF2-40B4-BE49-F238E27FC236}">
                <a16:creationId xmlns:a16="http://schemas.microsoft.com/office/drawing/2014/main" id="{0575FC54-3561-04A4-056F-94FF9BDABE49}"/>
              </a:ext>
            </a:extLst>
          </p:cNvPr>
          <p:cNvCxnSpPr/>
          <p:nvPr/>
        </p:nvCxnSpPr>
        <p:spPr>
          <a:xfrm>
            <a:off x="3552209" y="4700690"/>
            <a:ext cx="574461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20A2E4C0-8AE7-4C75-C952-1F1BE67F045F}"/>
              </a:ext>
            </a:extLst>
          </p:cNvPr>
          <p:cNvSpPr txBox="1"/>
          <p:nvPr/>
        </p:nvSpPr>
        <p:spPr>
          <a:xfrm>
            <a:off x="4214972" y="4556675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&lt;90ns</a:t>
            </a:r>
            <a:endParaRPr lang="ja-JP" altLang="en-US" sz="1200" dirty="0"/>
          </a:p>
        </p:txBody>
      </p:sp>
      <p:cxnSp>
        <p:nvCxnSpPr>
          <p:cNvPr id="108" name="直線矢印コネクタ 107">
            <a:extLst>
              <a:ext uri="{FF2B5EF4-FFF2-40B4-BE49-F238E27FC236}">
                <a16:creationId xmlns:a16="http://schemas.microsoft.com/office/drawing/2014/main" id="{B2B15C8D-3E9E-6FC6-3EDF-5F0392662210}"/>
              </a:ext>
            </a:extLst>
          </p:cNvPr>
          <p:cNvCxnSpPr/>
          <p:nvPr/>
        </p:nvCxnSpPr>
        <p:spPr>
          <a:xfrm>
            <a:off x="5065979" y="4700690"/>
            <a:ext cx="428842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テキスト ボックス 109">
            <a:extLst>
              <a:ext uri="{FF2B5EF4-FFF2-40B4-BE49-F238E27FC236}">
                <a16:creationId xmlns:a16="http://schemas.microsoft.com/office/drawing/2014/main" id="{5C361915-91A2-5C54-F12F-DA4A5398CBB7}"/>
              </a:ext>
            </a:extLst>
          </p:cNvPr>
          <p:cNvSpPr txBox="1"/>
          <p:nvPr/>
        </p:nvSpPr>
        <p:spPr>
          <a:xfrm>
            <a:off x="5728743" y="4556675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&lt;90ns</a:t>
            </a:r>
            <a:endParaRPr lang="ja-JP" altLang="en-US" sz="1200" dirty="0"/>
          </a:p>
        </p:txBody>
      </p:sp>
      <p:cxnSp>
        <p:nvCxnSpPr>
          <p:cNvPr id="112" name="直線コネクタ 111">
            <a:extLst>
              <a:ext uri="{FF2B5EF4-FFF2-40B4-BE49-F238E27FC236}">
                <a16:creationId xmlns:a16="http://schemas.microsoft.com/office/drawing/2014/main" id="{4242201D-D847-CC79-FF28-3CBEC4B94AE2}"/>
              </a:ext>
            </a:extLst>
          </p:cNvPr>
          <p:cNvCxnSpPr/>
          <p:nvPr/>
        </p:nvCxnSpPr>
        <p:spPr>
          <a:xfrm>
            <a:off x="7227822" y="4556674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矢印コネクタ 120">
            <a:extLst>
              <a:ext uri="{FF2B5EF4-FFF2-40B4-BE49-F238E27FC236}">
                <a16:creationId xmlns:a16="http://schemas.microsoft.com/office/drawing/2014/main" id="{86AAA42B-03CF-B9B4-14E3-6281FE90D8E5}"/>
              </a:ext>
            </a:extLst>
          </p:cNvPr>
          <p:cNvCxnSpPr/>
          <p:nvPr/>
        </p:nvCxnSpPr>
        <p:spPr>
          <a:xfrm>
            <a:off x="6579750" y="4700690"/>
            <a:ext cx="648072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テキスト ボックス 121">
            <a:extLst>
              <a:ext uri="{FF2B5EF4-FFF2-40B4-BE49-F238E27FC236}">
                <a16:creationId xmlns:a16="http://schemas.microsoft.com/office/drawing/2014/main" id="{1E866334-8419-88ED-8DF7-9B2EA52983F0}"/>
              </a:ext>
            </a:extLst>
          </p:cNvPr>
          <p:cNvSpPr txBox="1"/>
          <p:nvPr/>
        </p:nvSpPr>
        <p:spPr>
          <a:xfrm>
            <a:off x="7242514" y="4556675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&lt;90ns</a:t>
            </a:r>
            <a:endParaRPr lang="ja-JP" altLang="en-US" sz="1200" dirty="0"/>
          </a:p>
        </p:txBody>
      </p:sp>
      <p:cxnSp>
        <p:nvCxnSpPr>
          <p:cNvPr id="123" name="直線矢印コネクタ 122">
            <a:extLst>
              <a:ext uri="{FF2B5EF4-FFF2-40B4-BE49-F238E27FC236}">
                <a16:creationId xmlns:a16="http://schemas.microsoft.com/office/drawing/2014/main" id="{BE2F6904-0B6D-E065-DF5B-05811408B3B3}"/>
              </a:ext>
            </a:extLst>
          </p:cNvPr>
          <p:cNvCxnSpPr/>
          <p:nvPr/>
        </p:nvCxnSpPr>
        <p:spPr>
          <a:xfrm>
            <a:off x="8093521" y="4700690"/>
            <a:ext cx="425636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テキスト ボックス 123">
            <a:extLst>
              <a:ext uri="{FF2B5EF4-FFF2-40B4-BE49-F238E27FC236}">
                <a16:creationId xmlns:a16="http://schemas.microsoft.com/office/drawing/2014/main" id="{B61D8574-5E15-AC01-298A-9BBE04156E63}"/>
              </a:ext>
            </a:extLst>
          </p:cNvPr>
          <p:cNvSpPr txBox="1"/>
          <p:nvPr/>
        </p:nvSpPr>
        <p:spPr>
          <a:xfrm>
            <a:off x="8823484" y="4556675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&lt;90ns</a:t>
            </a:r>
            <a:endParaRPr lang="ja-JP" altLang="en-US" sz="1200" dirty="0"/>
          </a:p>
        </p:txBody>
      </p:sp>
      <p:sp>
        <p:nvSpPr>
          <p:cNvPr id="125" name="テキスト ボックス 124">
            <a:extLst>
              <a:ext uri="{FF2B5EF4-FFF2-40B4-BE49-F238E27FC236}">
                <a16:creationId xmlns:a16="http://schemas.microsoft.com/office/drawing/2014/main" id="{2B447313-C833-102E-1353-9955B2573243}"/>
              </a:ext>
            </a:extLst>
          </p:cNvPr>
          <p:cNvSpPr txBox="1"/>
          <p:nvPr/>
        </p:nvSpPr>
        <p:spPr>
          <a:xfrm>
            <a:off x="540940" y="5409213"/>
            <a:ext cx="108035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上記のタイムチャートで、</a:t>
            </a:r>
            <a:r>
              <a:rPr kumimoji="1" lang="en-US" altLang="ja-JP" sz="2400" dirty="0"/>
              <a:t>din</a:t>
            </a:r>
            <a:r>
              <a:rPr kumimoji="1" lang="ja-JP" altLang="en-US" sz="2400" dirty="0"/>
              <a:t>を切り替えたタイミングから</a:t>
            </a:r>
            <a:r>
              <a:rPr kumimoji="1" lang="en-US" altLang="ja-JP" sz="2400" dirty="0"/>
              <a:t>90ns</a:t>
            </a:r>
            <a:r>
              <a:rPr kumimoji="1" lang="ja-JP" altLang="en-US" sz="2400" dirty="0"/>
              <a:t>は出力が不定</a:t>
            </a:r>
            <a:endParaRPr kumimoji="1" lang="en-US" altLang="ja-JP" sz="2400" dirty="0"/>
          </a:p>
          <a:p>
            <a:r>
              <a:rPr kumimoji="1" lang="en-US" altLang="ja-JP" sz="2400" dirty="0"/>
              <a:t>90ns</a:t>
            </a:r>
            <a:r>
              <a:rPr kumimoji="1" lang="ja-JP" altLang="en-US" sz="2400" dirty="0"/>
              <a:t>から</a:t>
            </a:r>
            <a:r>
              <a:rPr kumimoji="1" lang="en-US" altLang="ja-JP" sz="2400" dirty="0"/>
              <a:t>100ns</a:t>
            </a:r>
            <a:r>
              <a:rPr kumimoji="1" lang="ja-JP" altLang="en-US" sz="2400" dirty="0"/>
              <a:t>の間でサンプリングを行うという解釈であっているか</a:t>
            </a:r>
          </a:p>
        </p:txBody>
      </p:sp>
      <p:sp>
        <p:nvSpPr>
          <p:cNvPr id="126" name="テキスト ボックス 125">
            <a:extLst>
              <a:ext uri="{FF2B5EF4-FFF2-40B4-BE49-F238E27FC236}">
                <a16:creationId xmlns:a16="http://schemas.microsoft.com/office/drawing/2014/main" id="{6ABB86A3-2292-77A0-4B44-FAB5A58E4451}"/>
              </a:ext>
            </a:extLst>
          </p:cNvPr>
          <p:cNvSpPr txBox="1"/>
          <p:nvPr/>
        </p:nvSpPr>
        <p:spPr>
          <a:xfrm>
            <a:off x="130226" y="4060550"/>
            <a:ext cx="1800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DAC</a:t>
            </a:r>
            <a:r>
              <a:rPr kumimoji="1" lang="ja-JP" altLang="en-US" dirty="0"/>
              <a:t>の</a:t>
            </a:r>
            <a:endParaRPr kumimoji="1" lang="en-US" altLang="ja-JP" dirty="0"/>
          </a:p>
          <a:p>
            <a:r>
              <a:rPr kumimoji="1" lang="ja-JP" altLang="en-US" dirty="0"/>
              <a:t>タイムチャート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1410</TotalTime>
  <Words>1422</Words>
  <Application>Microsoft Office PowerPoint</Application>
  <PresentationFormat>ワイド画面</PresentationFormat>
  <Paragraphs>357</Paragraphs>
  <Slides>23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23</vt:i4>
      </vt:variant>
    </vt:vector>
  </HeadingPairs>
  <TitlesOfParts>
    <vt:vector size="29" baseType="lpstr">
      <vt:lpstr>Meiryo UI</vt:lpstr>
      <vt:lpstr>游ゴシック</vt:lpstr>
      <vt:lpstr>游ゴシック Light</vt:lpstr>
      <vt:lpstr>Arial</vt:lpstr>
      <vt:lpstr>Cambria Math</vt:lpstr>
      <vt:lpstr>Office テーマ</vt:lpstr>
      <vt:lpstr>RDAC 10月分</vt:lpstr>
      <vt:lpstr>PowerPoint プレゼンテーション</vt:lpstr>
      <vt:lpstr>PowerPoint プレゼンテーション</vt:lpstr>
      <vt:lpstr>DAC全体の回路図</vt:lpstr>
      <vt:lpstr>セレクタの回路図</vt:lpstr>
      <vt:lpstr>ボルテージフォロワ</vt:lpstr>
      <vt:lpstr>ボルテージフォロワの回路図</vt:lpstr>
      <vt:lpstr>出力電圧範囲</vt:lpstr>
      <vt:lpstr>出力電圧範囲</vt:lpstr>
      <vt:lpstr>位相余裕</vt:lpstr>
      <vt:lpstr>スルーレート</vt:lpstr>
      <vt:lpstr>出力電流</vt:lpstr>
      <vt:lpstr>出力電流</vt:lpstr>
      <vt:lpstr>RDAC部+ ボルテージフォロワ</vt:lpstr>
      <vt:lpstr>RDAC+VFのシミュレーション結果</vt:lpstr>
      <vt:lpstr>オフセットエラー</vt:lpstr>
      <vt:lpstr>ゲインエラー</vt:lpstr>
      <vt:lpstr>消費電流</vt:lpstr>
      <vt:lpstr>スタンバイ電流</vt:lpstr>
      <vt:lpstr>PowerPoint プレゼンテーション</vt:lpstr>
      <vt:lpstr>まとめ (1/2)</vt:lpstr>
      <vt:lpstr>まとめ (2/2)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4CJNM022</dc:creator>
  <cp:lastModifiedBy>4CJNM022</cp:lastModifiedBy>
  <cp:revision>25</cp:revision>
  <dcterms:created xsi:type="dcterms:W3CDTF">2025-10-29T04:41:28Z</dcterms:created>
  <dcterms:modified xsi:type="dcterms:W3CDTF">2025-11-12T07:56:21Z</dcterms:modified>
</cp:coreProperties>
</file>